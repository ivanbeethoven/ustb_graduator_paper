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4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>
        <p:scale>
          <a:sx n="100" d="100"/>
          <a:sy n="100" d="100"/>
        </p:scale>
        <p:origin x="72" y="264"/>
      </p:cViewPr>
      <p:guideLst>
        <p:guide orient="horz" pos="2142"/>
        <p:guide pos="4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345" y="292735"/>
            <a:ext cx="2750185" cy="5499735"/>
          </a:xfrm>
          <a:prstGeom prst="roundRect">
            <a:avLst>
              <a:gd name="adj" fmla="val 2660"/>
            </a:avLst>
          </a:prstGeom>
          <a:solidFill>
            <a:srgbClr val="F5F5F5"/>
          </a:solidFill>
          <a:ln w="15240">
            <a:solidFill>
              <a:srgbClr val="1F1F1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47472"/>
            <a:ext cx="2640298" cy="438912"/>
          </a:xfrm>
          <a:prstGeom prst="roundRect">
            <a:avLst>
              <a:gd name="adj" fmla="val 16667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485" y="464604"/>
            <a:ext cx="245741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数据采集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3776" y="950976"/>
            <a:ext cx="245741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065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33272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CNCF Landscape 快照</a:t>
            </a:r>
          </a:p>
        </p:txBody>
      </p:sp>
      <p:sp>
        <p:nvSpPr>
          <p:cNvPr id="7" name="Text 5"/>
          <p:cNvSpPr/>
          <p:nvPr/>
        </p:nvSpPr>
        <p:spPr>
          <a:xfrm>
            <a:off x="658368" y="1270635"/>
            <a:ext cx="212823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固化云原生应用清单</a:t>
            </a:r>
          </a:p>
        </p:txBody>
      </p:sp>
      <p:sp>
        <p:nvSpPr>
          <p:cNvPr id="8" name="Text 6"/>
          <p:cNvSpPr/>
          <p:nvPr/>
        </p:nvSpPr>
        <p:spPr>
          <a:xfrm>
            <a:off x="1649333" y="167335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" y="2130552"/>
            <a:ext cx="245741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065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仓库目标集合</a:t>
            </a:r>
          </a:p>
        </p:txBody>
      </p:sp>
      <p:sp>
        <p:nvSpPr>
          <p:cNvPr id="11" name="Text 9"/>
          <p:cNvSpPr/>
          <p:nvPr/>
        </p:nvSpPr>
        <p:spPr>
          <a:xfrm>
            <a:off x="658368" y="2414016"/>
            <a:ext cx="212823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将应用条目映射到官方代码仓库</a:t>
            </a:r>
          </a:p>
        </p:txBody>
      </p:sp>
      <p:sp>
        <p:nvSpPr>
          <p:cNvPr id="13" name="Shape 11"/>
          <p:cNvSpPr/>
          <p:nvPr/>
        </p:nvSpPr>
        <p:spPr>
          <a:xfrm>
            <a:off x="512191" y="3389376"/>
            <a:ext cx="245741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065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59815" y="3444240"/>
            <a:ext cx="1325880" cy="267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多源漏洞检索</a:t>
            </a:r>
          </a:p>
        </p:txBody>
      </p:sp>
      <p:sp>
        <p:nvSpPr>
          <p:cNvPr id="16" name="Shape 14"/>
          <p:cNvSpPr/>
          <p:nvPr/>
        </p:nvSpPr>
        <p:spPr>
          <a:xfrm>
            <a:off x="936101" y="3808984"/>
            <a:ext cx="457200" cy="210312"/>
          </a:xfrm>
          <a:prstGeom prst="roundRect">
            <a:avLst>
              <a:gd name="adj" fmla="val 21739"/>
            </a:avLst>
          </a:prstGeom>
          <a:solidFill>
            <a:srgbClr val="EFEFEF"/>
          </a:solidFill>
          <a:ln w="11430">
            <a:solidFill>
              <a:srgbClr val="1F1F1F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389" y="385013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NVD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1493885" y="3808984"/>
            <a:ext cx="457200" cy="210312"/>
          </a:xfrm>
          <a:prstGeom prst="roundRect">
            <a:avLst>
              <a:gd name="adj" fmla="val 21739"/>
            </a:avLst>
          </a:prstGeom>
          <a:solidFill>
            <a:srgbClr val="EFEFEF"/>
          </a:solidFill>
          <a:ln w="11430">
            <a:solidFill>
              <a:srgbClr val="1F1F1F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12173" y="385013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CVE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2051669" y="3808984"/>
            <a:ext cx="457200" cy="210312"/>
          </a:xfrm>
          <a:prstGeom prst="roundRect">
            <a:avLst>
              <a:gd name="adj" fmla="val 21739"/>
            </a:avLst>
          </a:prstGeom>
          <a:solidFill>
            <a:srgbClr val="EFEFEF"/>
          </a:solidFill>
          <a:ln w="11430">
            <a:solidFill>
              <a:srgbClr val="1F1F1F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9957" y="385013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GHSA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640080" y="4084955"/>
            <a:ext cx="2164715" cy="429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围绕权限提升线索检索 Kubernetes 及其生态应用漏洞</a:t>
            </a:r>
          </a:p>
        </p:txBody>
      </p:sp>
      <p:sp>
        <p:nvSpPr>
          <p:cNvPr id="23" name="Text 21"/>
          <p:cNvSpPr/>
          <p:nvPr/>
        </p:nvSpPr>
        <p:spPr>
          <a:xfrm>
            <a:off x="1649095" y="4645025"/>
            <a:ext cx="146050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" y="4910836"/>
            <a:ext cx="2457418" cy="768096"/>
          </a:xfrm>
          <a:prstGeom prst="roundRect">
            <a:avLst>
              <a:gd name="adj" fmla="val 7143"/>
            </a:avLst>
          </a:prstGeom>
          <a:solidFill>
            <a:schemeClr val="tx1">
              <a:lumMod val="85000"/>
              <a:lumOff val="15000"/>
            </a:schemeClr>
          </a:solidFill>
          <a:ln w="12065">
            <a:solidFill>
              <a:srgbClr val="1F1F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207" y="5194427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CVE 候选池</a:t>
            </a:r>
          </a:p>
        </p:txBody>
      </p:sp>
      <p:sp>
        <p:nvSpPr>
          <p:cNvPr id="27" name="Shape 25"/>
          <p:cNvSpPr/>
          <p:nvPr/>
        </p:nvSpPr>
        <p:spPr>
          <a:xfrm>
            <a:off x="3261995" y="292735"/>
            <a:ext cx="2750185" cy="5492115"/>
          </a:xfrm>
          <a:prstGeom prst="roundRect">
            <a:avLst>
              <a:gd name="adj" fmla="val 2660"/>
            </a:avLst>
          </a:prstGeom>
          <a:solidFill>
            <a:srgbClr val="F8F8F8"/>
          </a:solidFill>
          <a:ln w="15240">
            <a:solidFill>
              <a:srgbClr val="35353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6954" y="347472"/>
            <a:ext cx="2640298" cy="438912"/>
          </a:xfrm>
          <a:prstGeom prst="roundRect">
            <a:avLst>
              <a:gd name="adj" fmla="val 16667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8394" y="464604"/>
            <a:ext cx="245741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漏洞筛选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408394" y="950976"/>
            <a:ext cx="245741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065">
            <a:solidFill>
              <a:srgbClr val="353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6410" y="1033272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关键词约束</a:t>
            </a:r>
          </a:p>
        </p:txBody>
      </p:sp>
      <p:sp>
        <p:nvSpPr>
          <p:cNvPr id="32" name="Text 30"/>
          <p:cNvSpPr/>
          <p:nvPr/>
        </p:nvSpPr>
        <p:spPr>
          <a:xfrm>
            <a:off x="3572986" y="1234440"/>
            <a:ext cx="212823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Privilege Escalation / RBAC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Authorization Bypass 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63951" y="17099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08394" y="2173478"/>
            <a:ext cx="245741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065">
            <a:solidFill>
              <a:srgbClr val="353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36410" y="2255774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严重度筛选</a:t>
            </a:r>
          </a:p>
        </p:txBody>
      </p:sp>
      <p:sp>
        <p:nvSpPr>
          <p:cNvPr id="36" name="Text 34"/>
          <p:cNvSpPr/>
          <p:nvPr/>
        </p:nvSpPr>
        <p:spPr>
          <a:xfrm>
            <a:off x="3572986" y="2456942"/>
            <a:ext cx="212823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以中危及以上</a:t>
            </a:r>
            <a:r>
              <a:rPr lang="en-US" altLang="zh-CN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CVSS ≥ 5.0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漏洞作为主要分析对象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08394" y="3550666"/>
            <a:ext cx="245741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065">
            <a:solidFill>
              <a:srgbClr val="353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6410" y="3632962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人工复核</a:t>
            </a:r>
          </a:p>
        </p:txBody>
      </p:sp>
      <p:sp>
        <p:nvSpPr>
          <p:cNvPr id="40" name="Text 38"/>
          <p:cNvSpPr/>
          <p:nvPr/>
        </p:nvSpPr>
        <p:spPr>
          <a:xfrm>
            <a:off x="3572986" y="3834130"/>
            <a:ext cx="212823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结合公告原文、厂商通告与社区讨论去重修正</a:t>
            </a:r>
          </a:p>
        </p:txBody>
      </p:sp>
      <p:sp>
        <p:nvSpPr>
          <p:cNvPr id="41" name="Text 39"/>
          <p:cNvSpPr/>
          <p:nvPr/>
        </p:nvSpPr>
        <p:spPr>
          <a:xfrm>
            <a:off x="4563951" y="475538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408394" y="4910836"/>
            <a:ext cx="2457418" cy="768096"/>
          </a:xfrm>
          <a:prstGeom prst="roundRect">
            <a:avLst>
              <a:gd name="adj" fmla="val 7143"/>
            </a:avLst>
          </a:prstGeom>
          <a:solidFill>
            <a:schemeClr val="tx1">
              <a:lumMod val="85000"/>
              <a:lumOff val="15000"/>
            </a:schemeClr>
          </a:solidFill>
          <a:ln w="12065">
            <a:solidFill>
              <a:srgbClr val="3535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99580" y="5194427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筛选后漏洞样本集</a:t>
            </a:r>
          </a:p>
        </p:txBody>
      </p:sp>
      <p:sp>
        <p:nvSpPr>
          <p:cNvPr id="45" name="Shape 43"/>
          <p:cNvSpPr/>
          <p:nvPr/>
        </p:nvSpPr>
        <p:spPr>
          <a:xfrm>
            <a:off x="6176645" y="292735"/>
            <a:ext cx="2750185" cy="5499735"/>
          </a:xfrm>
          <a:prstGeom prst="roundRect">
            <a:avLst>
              <a:gd name="adj" fmla="val 2660"/>
            </a:avLst>
          </a:prstGeom>
          <a:solidFill>
            <a:srgbClr val="F2F2F2"/>
          </a:solidFill>
          <a:ln w="15240">
            <a:solidFill>
              <a:srgbClr val="4B4B4B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1572" y="347472"/>
            <a:ext cx="2640298" cy="438912"/>
          </a:xfrm>
          <a:prstGeom prst="roundRect">
            <a:avLst>
              <a:gd name="adj" fmla="val 16667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4B4B4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7" name="Text 45"/>
          <p:cNvSpPr/>
          <p:nvPr/>
        </p:nvSpPr>
        <p:spPr>
          <a:xfrm>
            <a:off x="6323012" y="464604"/>
            <a:ext cx="245741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漏洞分类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323012" y="950976"/>
            <a:ext cx="245741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065">
            <a:solidFill>
              <a:srgbClr val="4B4B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1028" y="1033272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CWE 标注</a:t>
            </a:r>
          </a:p>
        </p:txBody>
      </p:sp>
      <p:sp>
        <p:nvSpPr>
          <p:cNvPr id="50" name="Text 48"/>
          <p:cNvSpPr/>
          <p:nvPr/>
        </p:nvSpPr>
        <p:spPr>
          <a:xfrm>
            <a:off x="6414135" y="1234440"/>
            <a:ext cx="228409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提取公开映射与漏洞公告中的弱点信息</a:t>
            </a:r>
          </a:p>
        </p:txBody>
      </p:sp>
      <p:sp>
        <p:nvSpPr>
          <p:cNvPr id="51" name="Text 49"/>
          <p:cNvSpPr/>
          <p:nvPr/>
        </p:nvSpPr>
        <p:spPr>
          <a:xfrm>
            <a:off x="7478570" y="167335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323012" y="2016252"/>
            <a:ext cx="245741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065">
            <a:solidFill>
              <a:srgbClr val="4B4B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1028" y="2098548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权重归一与主导弱点判定</a:t>
            </a:r>
          </a:p>
        </p:txBody>
      </p:sp>
      <p:sp>
        <p:nvSpPr>
          <p:cNvPr id="54" name="Text 52"/>
          <p:cNvSpPr/>
          <p:nvPr/>
        </p:nvSpPr>
        <p:spPr>
          <a:xfrm>
            <a:off x="6414135" y="2299970"/>
            <a:ext cx="228409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缓解多标签交叉带来的标注歧义</a:t>
            </a:r>
          </a:p>
        </p:txBody>
      </p:sp>
      <p:sp>
        <p:nvSpPr>
          <p:cNvPr id="55" name="Text 53"/>
          <p:cNvSpPr/>
          <p:nvPr/>
        </p:nvSpPr>
        <p:spPr>
          <a:xfrm>
            <a:off x="7478570" y="279349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23012" y="3180842"/>
            <a:ext cx="245741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065">
            <a:solidFill>
              <a:srgbClr val="4B4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1028" y="3683762"/>
            <a:ext cx="220138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797040" y="3326765"/>
            <a:ext cx="1508760" cy="285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两级成因分类框架</a:t>
            </a:r>
          </a:p>
        </p:txBody>
      </p:sp>
      <p:sp>
        <p:nvSpPr>
          <p:cNvPr id="59" name="Shape 57"/>
          <p:cNvSpPr/>
          <p:nvPr/>
        </p:nvSpPr>
        <p:spPr>
          <a:xfrm>
            <a:off x="6450330" y="3727450"/>
            <a:ext cx="1030605" cy="452120"/>
          </a:xfrm>
          <a:prstGeom prst="roundRect">
            <a:avLst>
              <a:gd name="adj" fmla="val 17857"/>
            </a:avLst>
          </a:prstGeom>
          <a:solidFill>
            <a:srgbClr val="EFEFEF"/>
          </a:solidFill>
          <a:ln w="11430">
            <a:solidFill>
              <a:srgbClr val="4B4B4B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4465" y="3784600"/>
            <a:ext cx="871855" cy="358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4B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一级</a:t>
            </a:r>
            <a:r>
              <a:rPr lang="zh-CN" altLang="en-US" sz="1200" b="1" dirty="0">
                <a:solidFill>
                  <a:srgbClr val="4B4B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r>
              <a:rPr lang="en-US" sz="1200" b="1" dirty="0">
                <a:solidFill>
                  <a:srgbClr val="4B4B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</a:t>
            </a:r>
          </a:p>
        </p:txBody>
      </p:sp>
      <p:sp>
        <p:nvSpPr>
          <p:cNvPr id="62" name="Shape 60"/>
          <p:cNvSpPr/>
          <p:nvPr/>
        </p:nvSpPr>
        <p:spPr>
          <a:xfrm>
            <a:off x="7633970" y="3727450"/>
            <a:ext cx="1002030" cy="452120"/>
          </a:xfrm>
          <a:prstGeom prst="roundRect">
            <a:avLst>
              <a:gd name="adj" fmla="val 17857"/>
            </a:avLst>
          </a:prstGeom>
          <a:solidFill>
            <a:srgbClr val="EFEFEF"/>
          </a:solidFill>
          <a:ln w="11430">
            <a:solidFill>
              <a:srgbClr val="4B4B4B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14920" y="3787140"/>
            <a:ext cx="989965" cy="309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4B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二级</a:t>
            </a:r>
            <a:r>
              <a:rPr lang="zh-CN" altLang="en-US" sz="1200" b="1" dirty="0">
                <a:solidFill>
                  <a:srgbClr val="4B4B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6323012" y="4910836"/>
            <a:ext cx="2457418" cy="768096"/>
          </a:xfrm>
          <a:prstGeom prst="roundRect">
            <a:avLst>
              <a:gd name="adj" fmla="val 7143"/>
            </a:avLst>
          </a:prstGeom>
          <a:solidFill>
            <a:schemeClr val="tx1">
              <a:lumMod val="85000"/>
              <a:lumOff val="15000"/>
            </a:schemeClr>
          </a:solidFill>
          <a:ln w="12065">
            <a:solidFill>
              <a:srgbClr val="4B4B4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4198" y="5194427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带标签漏洞样本集</a:t>
            </a:r>
          </a:p>
        </p:txBody>
      </p:sp>
      <p:sp>
        <p:nvSpPr>
          <p:cNvPr id="69" name="Shape 67"/>
          <p:cNvSpPr/>
          <p:nvPr/>
        </p:nvSpPr>
        <p:spPr>
          <a:xfrm>
            <a:off x="9091295" y="292735"/>
            <a:ext cx="2750185" cy="5492115"/>
          </a:xfrm>
          <a:prstGeom prst="roundRect">
            <a:avLst>
              <a:gd name="adj" fmla="val 2660"/>
            </a:avLst>
          </a:prstGeom>
          <a:solidFill>
            <a:srgbClr val="F7F7F7"/>
          </a:solidFill>
          <a:ln w="15240">
            <a:solidFill>
              <a:srgbClr val="666666">
                <a:alpha val="8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6191" y="347472"/>
            <a:ext cx="2640298" cy="438912"/>
          </a:xfrm>
          <a:prstGeom prst="roundRect">
            <a:avLst>
              <a:gd name="adj" fmla="val 16667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37631" y="464604"/>
            <a:ext cx="245741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知识库构建</a:t>
            </a: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9237631" y="950976"/>
            <a:ext cx="245741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065">
            <a:solidFill>
              <a:srgbClr val="6666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65615" y="1028700"/>
            <a:ext cx="2201545" cy="241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材料收集</a:t>
            </a:r>
          </a:p>
        </p:txBody>
      </p:sp>
      <p:sp>
        <p:nvSpPr>
          <p:cNvPr id="74" name="Text 72"/>
          <p:cNvSpPr/>
          <p:nvPr/>
        </p:nvSpPr>
        <p:spPr>
          <a:xfrm>
            <a:off x="9402445" y="1270000"/>
            <a:ext cx="2128520" cy="384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 / 配置 / 文档 / 公告 / Issue / PR </a:t>
            </a:r>
          </a:p>
        </p:txBody>
      </p:sp>
      <p:sp>
        <p:nvSpPr>
          <p:cNvPr id="75" name="Text 73"/>
          <p:cNvSpPr/>
          <p:nvPr/>
        </p:nvSpPr>
        <p:spPr>
          <a:xfrm>
            <a:off x="10393188" y="17099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9237631" y="1938528"/>
            <a:ext cx="245741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065">
            <a:solidFill>
              <a:srgbClr val="6666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65647" y="2020824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文本规范化与过滤</a:t>
            </a:r>
          </a:p>
        </p:txBody>
      </p:sp>
      <p:sp>
        <p:nvSpPr>
          <p:cNvPr id="78" name="Text 76"/>
          <p:cNvSpPr/>
          <p:nvPr/>
        </p:nvSpPr>
        <p:spPr>
          <a:xfrm>
            <a:off x="9402223" y="2221992"/>
            <a:ext cx="212823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去除噪声并压缩无效内容，保留可复核证据</a:t>
            </a:r>
          </a:p>
        </p:txBody>
      </p:sp>
      <p:sp>
        <p:nvSpPr>
          <p:cNvPr id="79" name="Text 77"/>
          <p:cNvSpPr/>
          <p:nvPr/>
        </p:nvSpPr>
        <p:spPr>
          <a:xfrm>
            <a:off x="10393188" y="266090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9237631" y="2889504"/>
            <a:ext cx="245741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065">
            <a:solidFill>
              <a:srgbClr val="6666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365647" y="2971800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差异化分块</a:t>
            </a:r>
          </a:p>
        </p:txBody>
      </p:sp>
      <p:sp>
        <p:nvSpPr>
          <p:cNvPr id="82" name="Text 80"/>
          <p:cNvSpPr/>
          <p:nvPr/>
        </p:nvSpPr>
        <p:spPr>
          <a:xfrm>
            <a:off x="9402223" y="3172968"/>
            <a:ext cx="212823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代码按行级与语义边界；文档按段落与滑动窗口</a:t>
            </a:r>
          </a:p>
        </p:txBody>
      </p:sp>
      <p:sp>
        <p:nvSpPr>
          <p:cNvPr id="83" name="Text 81"/>
          <p:cNvSpPr/>
          <p:nvPr/>
        </p:nvSpPr>
        <p:spPr>
          <a:xfrm>
            <a:off x="10393188" y="36667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237631" y="3895344"/>
            <a:ext cx="245741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065">
            <a:solidFill>
              <a:srgbClr val="6666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65647" y="3977640"/>
            <a:ext cx="22013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向量化与检索索引</a:t>
            </a:r>
          </a:p>
        </p:txBody>
      </p:sp>
      <p:sp>
        <p:nvSpPr>
          <p:cNvPr id="86" name="Text 84"/>
          <p:cNvSpPr/>
          <p:nvPr/>
        </p:nvSpPr>
        <p:spPr>
          <a:xfrm>
            <a:off x="9402223" y="4178808"/>
            <a:ext cx="212823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MPNet 编码 + FAISS 近邻检索</a:t>
            </a:r>
          </a:p>
        </p:txBody>
      </p:sp>
      <p:sp>
        <p:nvSpPr>
          <p:cNvPr id="88" name="Shape 86"/>
          <p:cNvSpPr/>
          <p:nvPr/>
        </p:nvSpPr>
        <p:spPr>
          <a:xfrm>
            <a:off x="9237631" y="4892548"/>
            <a:ext cx="2457418" cy="786384"/>
          </a:xfrm>
          <a:prstGeom prst="roundRect">
            <a:avLst>
              <a:gd name="adj" fmla="val 6977"/>
            </a:avLst>
          </a:prstGeom>
          <a:solidFill>
            <a:schemeClr val="tx1">
              <a:lumMod val="85000"/>
              <a:lumOff val="15000"/>
            </a:schemeClr>
          </a:solidFill>
          <a:ln w="12065">
            <a:solidFill>
              <a:srgbClr val="66666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65615" y="5139690"/>
            <a:ext cx="2201545" cy="274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向量化</a:t>
            </a: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</a:t>
            </a:r>
          </a:p>
        </p:txBody>
      </p:sp>
      <p:sp>
        <p:nvSpPr>
          <p:cNvPr id="91" name="Shape 89"/>
          <p:cNvSpPr/>
          <p:nvPr/>
        </p:nvSpPr>
        <p:spPr>
          <a:xfrm>
            <a:off x="3124930" y="5185156"/>
            <a:ext cx="109728" cy="219456"/>
          </a:xfrm>
          <a:prstGeom prst="chevron">
            <a:avLst/>
          </a:prstGeom>
          <a:solidFill>
            <a:srgbClr val="8A8A8A"/>
          </a:solidFill>
          <a:ln w="10160">
            <a:solidFill>
              <a:srgbClr val="8A8A8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9548" y="5185156"/>
            <a:ext cx="109728" cy="219456"/>
          </a:xfrm>
          <a:prstGeom prst="chevron">
            <a:avLst/>
          </a:prstGeom>
          <a:solidFill>
            <a:srgbClr val="8A8A8A"/>
          </a:solidFill>
          <a:ln w="10160">
            <a:solidFill>
              <a:srgbClr val="8A8A8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54167" y="5185156"/>
            <a:ext cx="109728" cy="219456"/>
          </a:xfrm>
          <a:prstGeom prst="chevron">
            <a:avLst/>
          </a:prstGeom>
          <a:solidFill>
            <a:srgbClr val="8A8A8A"/>
          </a:solidFill>
          <a:ln w="10160">
            <a:solidFill>
              <a:srgbClr val="8A8A8A"/>
            </a:solidFill>
            <a:prstDash val="solid"/>
          </a:ln>
        </p:spPr>
      </p:sp>
      <p:cxnSp>
        <p:nvCxnSpPr>
          <p:cNvPr id="94" name="直接箭头连接符 93"/>
          <p:cNvCxnSpPr>
            <a:stCxn id="8" idx="0"/>
            <a:endCxn id="9" idx="0"/>
          </p:cNvCxnSpPr>
          <p:nvPr/>
        </p:nvCxnSpPr>
        <p:spPr>
          <a:xfrm>
            <a:off x="1722120" y="1673225"/>
            <a:ext cx="635" cy="45720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1722755" y="2871470"/>
            <a:ext cx="635" cy="45720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1722120" y="4559935"/>
            <a:ext cx="1270" cy="33274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>
            <a:off x="4636770" y="1716405"/>
            <a:ext cx="635" cy="45720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38" idx="0"/>
          </p:cNvCxnSpPr>
          <p:nvPr/>
        </p:nvCxnSpPr>
        <p:spPr>
          <a:xfrm>
            <a:off x="4637405" y="2868295"/>
            <a:ext cx="0" cy="68262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endCxn id="42" idx="0"/>
          </p:cNvCxnSpPr>
          <p:nvPr/>
        </p:nvCxnSpPr>
        <p:spPr>
          <a:xfrm>
            <a:off x="4636135" y="4300220"/>
            <a:ext cx="1270" cy="61087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7555865" y="1664335"/>
            <a:ext cx="0" cy="35179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endCxn id="56" idx="0"/>
          </p:cNvCxnSpPr>
          <p:nvPr/>
        </p:nvCxnSpPr>
        <p:spPr>
          <a:xfrm flipH="1">
            <a:off x="7551420" y="2793365"/>
            <a:ext cx="4445" cy="38735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endCxn id="66" idx="0"/>
          </p:cNvCxnSpPr>
          <p:nvPr/>
        </p:nvCxnSpPr>
        <p:spPr>
          <a:xfrm>
            <a:off x="7551420" y="4385310"/>
            <a:ext cx="0" cy="52578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10466070" y="1700530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10466070" y="2651125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10466070" y="3666490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10466705" y="4645025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</Words>
  <Application>Microsoft Office PowerPoint</Application>
  <PresentationFormat>自定义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chap3_kb_flow</dc:title>
  <dc:subject>漏洞收集、分类与知识库构建流程</dc:subject>
  <dc:creator>OpenAI Codex</dc:creator>
  <cp:lastModifiedBy>XY Han</cp:lastModifiedBy>
  <cp:revision>3</cp:revision>
  <dcterms:created xsi:type="dcterms:W3CDTF">2026-04-05T07:42:00Z</dcterms:created>
  <dcterms:modified xsi:type="dcterms:W3CDTF">2026-04-20T14:56:07Z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9E1DAAC6733A4CAE9E28CFFF446A66CE_12</vt:lpwstr>
  </property>
</Properties>
</file>