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</p:sldIdLst>
  <p:sldSz cx="12188825" cy="6858000"/>
  <p:notesSz cx="6858000" cy="1218882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42" userDrawn="1">
          <p15:clr>
            <a:srgbClr val="A4A3A4"/>
          </p15:clr>
        </p15:guide>
        <p15:guide id="2" pos="4904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 showGuides="1">
      <p:cViewPr varScale="1">
        <p:scale>
          <a:sx n="136" d="100"/>
          <a:sy n="136" d="100"/>
        </p:scale>
        <p:origin x="216" y="312"/>
      </p:cViewPr>
      <p:guideLst>
        <p:guide orient="horz" pos="2142"/>
        <p:guide pos="4904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7" Type="http://schemas.openxmlformats.org/officeDocument/2006/relationships/tableStyles" Target="tableStyles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7345" y="292735"/>
            <a:ext cx="2750185" cy="5499735"/>
          </a:xfrm>
          <a:prstGeom prst="roundRect">
            <a:avLst>
              <a:gd name="adj" fmla="val 2660"/>
            </a:avLst>
          </a:prstGeom>
          <a:solidFill>
            <a:srgbClr val="F5F5F5"/>
          </a:solidFill>
          <a:ln w="15240">
            <a:solidFill>
              <a:srgbClr val="1F1F1F">
                <a:alpha val="8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02336" y="347472"/>
            <a:ext cx="2640298" cy="438912"/>
          </a:xfrm>
          <a:prstGeom prst="roundRect">
            <a:avLst>
              <a:gd name="adj" fmla="val 16667"/>
            </a:avLst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93776" y="429768"/>
            <a:ext cx="245741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4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① 数据采集</a:t>
            </a:r>
            <a:endParaRPr lang="en-US" sz="1240" dirty="0"/>
          </a:p>
        </p:txBody>
      </p:sp>
      <p:sp>
        <p:nvSpPr>
          <p:cNvPr id="5" name="Shape 3"/>
          <p:cNvSpPr/>
          <p:nvPr/>
        </p:nvSpPr>
        <p:spPr>
          <a:xfrm>
            <a:off x="493776" y="950976"/>
            <a:ext cx="2457418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065">
            <a:solidFill>
              <a:srgbClr val="1F1F1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21792" y="1033272"/>
            <a:ext cx="2201386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CNCF Landscape 快照</a:t>
            </a:r>
            <a:endParaRPr lang="en-US" sz="1200" b="1" dirty="0">
              <a:solidFill>
                <a:srgbClr val="11111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</a:endParaRPr>
          </a:p>
        </p:txBody>
      </p:sp>
      <p:sp>
        <p:nvSpPr>
          <p:cNvPr id="7" name="Text 5"/>
          <p:cNvSpPr/>
          <p:nvPr/>
        </p:nvSpPr>
        <p:spPr>
          <a:xfrm>
            <a:off x="658368" y="1270635"/>
            <a:ext cx="2128234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90" dirty="0">
                <a:solidFill>
                  <a:srgbClr val="5A5A5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固化云原生应用清单</a:t>
            </a:r>
            <a:endParaRPr lang="en-US" sz="990" dirty="0">
              <a:solidFill>
                <a:srgbClr val="5A5A5A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</a:endParaRPr>
          </a:p>
        </p:txBody>
      </p:sp>
      <p:sp>
        <p:nvSpPr>
          <p:cNvPr id="8" name="Text 6"/>
          <p:cNvSpPr/>
          <p:nvPr/>
        </p:nvSpPr>
        <p:spPr>
          <a:xfrm>
            <a:off x="1649333" y="1673352"/>
            <a:ext cx="146304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93776" y="2130552"/>
            <a:ext cx="2457418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065">
            <a:solidFill>
              <a:srgbClr val="1F1F1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1792" y="2212848"/>
            <a:ext cx="2201386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GitHub 仓库目标集合</a:t>
            </a:r>
            <a:endParaRPr lang="en-US" sz="1200" b="1" dirty="0">
              <a:solidFill>
                <a:srgbClr val="11111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658368" y="2414016"/>
            <a:ext cx="2128234" cy="4023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90" dirty="0">
                <a:solidFill>
                  <a:srgbClr val="5A5A5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将应用条目映射到官方代码仓库</a:t>
            </a:r>
            <a:endParaRPr lang="en-US" sz="990" dirty="0">
              <a:solidFill>
                <a:srgbClr val="5A5A5A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512191" y="3389376"/>
            <a:ext cx="2457418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065">
            <a:solidFill>
              <a:srgbClr val="1F1F1F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15" name="Text 13"/>
          <p:cNvSpPr/>
          <p:nvPr/>
        </p:nvSpPr>
        <p:spPr>
          <a:xfrm>
            <a:off x="1059815" y="3444240"/>
            <a:ext cx="1325880" cy="2679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多源漏洞检索</a:t>
            </a:r>
            <a:endParaRPr lang="en-US" sz="1200" b="1" dirty="0">
              <a:solidFill>
                <a:srgbClr val="11111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936101" y="3808984"/>
            <a:ext cx="457200" cy="210312"/>
          </a:xfrm>
          <a:prstGeom prst="roundRect">
            <a:avLst>
              <a:gd name="adj" fmla="val 21739"/>
            </a:avLst>
          </a:prstGeom>
          <a:solidFill>
            <a:srgbClr val="EFEFEF"/>
          </a:solidFill>
          <a:ln w="11430">
            <a:solidFill>
              <a:srgbClr val="1F1F1F">
                <a:alpha val="75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54389" y="3850132"/>
            <a:ext cx="420624" cy="1097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90" b="1" dirty="0">
                <a:solidFill>
                  <a:srgbClr val="1F1F1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NVD</a:t>
            </a:r>
            <a:endParaRPr lang="en-US" sz="790" dirty="0"/>
          </a:p>
        </p:txBody>
      </p:sp>
      <p:sp>
        <p:nvSpPr>
          <p:cNvPr id="18" name="Shape 16"/>
          <p:cNvSpPr/>
          <p:nvPr/>
        </p:nvSpPr>
        <p:spPr>
          <a:xfrm>
            <a:off x="1493885" y="3808984"/>
            <a:ext cx="457200" cy="210312"/>
          </a:xfrm>
          <a:prstGeom prst="roundRect">
            <a:avLst>
              <a:gd name="adj" fmla="val 21739"/>
            </a:avLst>
          </a:prstGeom>
          <a:solidFill>
            <a:srgbClr val="EFEFEF"/>
          </a:solidFill>
          <a:ln w="11430">
            <a:solidFill>
              <a:srgbClr val="1F1F1F">
                <a:alpha val="7500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512173" y="3850132"/>
            <a:ext cx="420624" cy="1097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90" b="1" dirty="0">
                <a:solidFill>
                  <a:srgbClr val="1F1F1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CVE</a:t>
            </a:r>
            <a:endParaRPr lang="en-US" sz="790" dirty="0"/>
          </a:p>
        </p:txBody>
      </p:sp>
      <p:sp>
        <p:nvSpPr>
          <p:cNvPr id="20" name="Shape 18"/>
          <p:cNvSpPr/>
          <p:nvPr/>
        </p:nvSpPr>
        <p:spPr>
          <a:xfrm>
            <a:off x="2051669" y="3808984"/>
            <a:ext cx="457200" cy="210312"/>
          </a:xfrm>
          <a:prstGeom prst="roundRect">
            <a:avLst>
              <a:gd name="adj" fmla="val 21739"/>
            </a:avLst>
          </a:prstGeom>
          <a:solidFill>
            <a:srgbClr val="EFEFEF"/>
          </a:solidFill>
          <a:ln w="11430">
            <a:solidFill>
              <a:srgbClr val="1F1F1F">
                <a:alpha val="7500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069957" y="3850132"/>
            <a:ext cx="420624" cy="1097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90" b="1" dirty="0">
                <a:solidFill>
                  <a:srgbClr val="1F1F1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GHSA</a:t>
            </a:r>
            <a:endParaRPr lang="en-US" sz="790" dirty="0"/>
          </a:p>
        </p:txBody>
      </p:sp>
      <p:sp>
        <p:nvSpPr>
          <p:cNvPr id="22" name="Text 20"/>
          <p:cNvSpPr/>
          <p:nvPr/>
        </p:nvSpPr>
        <p:spPr>
          <a:xfrm>
            <a:off x="640080" y="4084955"/>
            <a:ext cx="2164715" cy="429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A5A5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围绕权限提升线索检索 Kubernetes 及其生态应用漏洞</a:t>
            </a:r>
            <a:endParaRPr lang="en-US" sz="1000" dirty="0">
              <a:solidFill>
                <a:srgbClr val="5A5A5A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1649095" y="4645025"/>
            <a:ext cx="146050" cy="2565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93776" y="4910836"/>
            <a:ext cx="2457418" cy="768096"/>
          </a:xfrm>
          <a:prstGeom prst="roundRect">
            <a:avLst>
              <a:gd name="adj" fmla="val 7143"/>
            </a:avLst>
          </a:prstGeom>
          <a:solidFill>
            <a:srgbClr val="1F1F1F"/>
          </a:solidFill>
          <a:ln w="12065">
            <a:solidFill>
              <a:srgbClr val="1F1F1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207" y="5194427"/>
            <a:ext cx="2201386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CVE 候选池</a:t>
            </a:r>
            <a:endParaRPr lang="en-US" sz="1400" b="1" dirty="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3261995" y="292735"/>
            <a:ext cx="2750185" cy="5492115"/>
          </a:xfrm>
          <a:prstGeom prst="roundRect">
            <a:avLst>
              <a:gd name="adj" fmla="val 2660"/>
            </a:avLst>
          </a:prstGeom>
          <a:solidFill>
            <a:srgbClr val="F8F8F8"/>
          </a:solidFill>
          <a:ln w="15240">
            <a:solidFill>
              <a:srgbClr val="353535">
                <a:alpha val="80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316954" y="347472"/>
            <a:ext cx="2640298" cy="438912"/>
          </a:xfrm>
          <a:prstGeom prst="roundRect">
            <a:avLst>
              <a:gd name="adj" fmla="val 16667"/>
            </a:avLst>
          </a:prstGeom>
          <a:solidFill>
            <a:srgbClr val="353535"/>
          </a:solidFill>
          <a:ln w="12700">
            <a:solidFill>
              <a:srgbClr val="35353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408394" y="429768"/>
            <a:ext cx="245741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4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② 漏洞筛选</a:t>
            </a:r>
            <a:endParaRPr lang="en-US" sz="1240" dirty="0"/>
          </a:p>
        </p:txBody>
      </p:sp>
      <p:sp>
        <p:nvSpPr>
          <p:cNvPr id="30" name="Shape 28"/>
          <p:cNvSpPr/>
          <p:nvPr/>
        </p:nvSpPr>
        <p:spPr>
          <a:xfrm>
            <a:off x="3408394" y="950976"/>
            <a:ext cx="2457418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12065">
            <a:solidFill>
              <a:srgbClr val="35353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536410" y="1033272"/>
            <a:ext cx="2201386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关键词约束</a:t>
            </a:r>
            <a:endParaRPr lang="en-US" sz="1200" b="1" dirty="0">
              <a:solidFill>
                <a:srgbClr val="11111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3572986" y="1234440"/>
            <a:ext cx="2128234" cy="4206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A5A5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Privilege Escalation / RBAC /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5A5A5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Authorization Bypass 等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563951" y="1709928"/>
            <a:ext cx="146304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3408394" y="2173478"/>
            <a:ext cx="2457418" cy="694944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12065">
            <a:solidFill>
              <a:srgbClr val="35353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536410" y="2255774"/>
            <a:ext cx="2201386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200" b="1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严重度</a:t>
            </a:r>
            <a:r>
              <a:rPr lang="zh-CN" altLang="en-US" sz="1200" b="1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筛选</a:t>
            </a:r>
            <a:endParaRPr lang="zh-CN" altLang="en-US" sz="1200" b="1" dirty="0">
              <a:solidFill>
                <a:srgbClr val="11111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3572986" y="2456942"/>
            <a:ext cx="2128234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A5A5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以中危及以上</a:t>
            </a:r>
            <a:r>
              <a:rPr lang="en-US" altLang="zh-CN" sz="1000" dirty="0">
                <a:solidFill>
                  <a:srgbClr val="5A5A5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CVSS ≥ 5.0</a:t>
            </a:r>
            <a:endParaRPr lang="en-US" altLang="zh-CN" sz="1000" dirty="0">
              <a:solidFill>
                <a:srgbClr val="5A5A5A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</a:endParaRPr>
          </a:p>
          <a:p>
            <a:pPr marL="0" indent="0" algn="ctr">
              <a:buNone/>
            </a:pPr>
            <a:r>
              <a:rPr lang="en-US" sz="1000" dirty="0">
                <a:solidFill>
                  <a:srgbClr val="5A5A5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漏洞作为主要分析对象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3408394" y="3550666"/>
            <a:ext cx="2457418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12065">
            <a:solidFill>
              <a:srgbClr val="35353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536410" y="3632962"/>
            <a:ext cx="2201386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人工复核</a:t>
            </a:r>
            <a:endParaRPr lang="en-US" sz="1200" b="1" dirty="0">
              <a:solidFill>
                <a:srgbClr val="11111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3572986" y="3834130"/>
            <a:ext cx="2128234" cy="4206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A5A5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结合公告原文、厂商通告与社区讨论去重修正</a:t>
            </a:r>
            <a:endParaRPr lang="en-US" sz="1000" dirty="0">
              <a:solidFill>
                <a:srgbClr val="5A5A5A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4563951" y="4755388"/>
            <a:ext cx="146304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3408394" y="4910836"/>
            <a:ext cx="2457418" cy="768096"/>
          </a:xfrm>
          <a:prstGeom prst="roundRect">
            <a:avLst>
              <a:gd name="adj" fmla="val 7143"/>
            </a:avLst>
          </a:prstGeom>
          <a:solidFill>
            <a:srgbClr val="353535"/>
          </a:solidFill>
          <a:ln w="12065">
            <a:solidFill>
              <a:srgbClr val="353535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499580" y="5194427"/>
            <a:ext cx="2201386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筛选后漏洞样本集</a:t>
            </a:r>
            <a:endParaRPr lang="en-US" sz="1400" b="1" dirty="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</a:endParaRPr>
          </a:p>
        </p:txBody>
      </p:sp>
      <p:sp>
        <p:nvSpPr>
          <p:cNvPr id="45" name="Shape 43"/>
          <p:cNvSpPr/>
          <p:nvPr/>
        </p:nvSpPr>
        <p:spPr>
          <a:xfrm>
            <a:off x="6176645" y="292735"/>
            <a:ext cx="2750185" cy="5499735"/>
          </a:xfrm>
          <a:prstGeom prst="roundRect">
            <a:avLst>
              <a:gd name="adj" fmla="val 2660"/>
            </a:avLst>
          </a:prstGeom>
          <a:solidFill>
            <a:srgbClr val="F2F2F2"/>
          </a:solidFill>
          <a:ln w="15240">
            <a:solidFill>
              <a:srgbClr val="4B4B4B">
                <a:alpha val="8000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231572" y="347472"/>
            <a:ext cx="2640298" cy="438912"/>
          </a:xfrm>
          <a:prstGeom prst="roundRect">
            <a:avLst>
              <a:gd name="adj" fmla="val 16667"/>
            </a:avLst>
          </a:prstGeom>
          <a:solidFill>
            <a:srgbClr val="4B4B4B"/>
          </a:solidFill>
          <a:ln w="12700">
            <a:solidFill>
              <a:srgbClr val="4B4B4B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323012" y="429768"/>
            <a:ext cx="245741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4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③ 漏洞分类</a:t>
            </a:r>
            <a:endParaRPr lang="en-US" sz="1240" dirty="0"/>
          </a:p>
        </p:txBody>
      </p:sp>
      <p:sp>
        <p:nvSpPr>
          <p:cNvPr id="48" name="Shape 46"/>
          <p:cNvSpPr/>
          <p:nvPr/>
        </p:nvSpPr>
        <p:spPr>
          <a:xfrm>
            <a:off x="6323012" y="950976"/>
            <a:ext cx="2457418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065">
            <a:solidFill>
              <a:srgbClr val="4B4B4B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451028" y="1033272"/>
            <a:ext cx="2201386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CWE 标注</a:t>
            </a:r>
            <a:endParaRPr lang="en-US" sz="1200" b="1" dirty="0">
              <a:solidFill>
                <a:srgbClr val="11111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</a:endParaRPr>
          </a:p>
        </p:txBody>
      </p:sp>
      <p:sp>
        <p:nvSpPr>
          <p:cNvPr id="50" name="Text 48"/>
          <p:cNvSpPr/>
          <p:nvPr/>
        </p:nvSpPr>
        <p:spPr>
          <a:xfrm>
            <a:off x="6414135" y="1234440"/>
            <a:ext cx="2284095" cy="384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A5A5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提取公开映射与漏洞公告中的弱点信息</a:t>
            </a:r>
            <a:endParaRPr lang="en-US" sz="1000" dirty="0">
              <a:solidFill>
                <a:srgbClr val="5A5A5A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</a:endParaRPr>
          </a:p>
        </p:txBody>
      </p:sp>
      <p:sp>
        <p:nvSpPr>
          <p:cNvPr id="51" name="Text 49"/>
          <p:cNvSpPr/>
          <p:nvPr/>
        </p:nvSpPr>
        <p:spPr>
          <a:xfrm>
            <a:off x="7478570" y="1673352"/>
            <a:ext cx="146304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300" dirty="0"/>
          </a:p>
        </p:txBody>
      </p:sp>
      <p:sp>
        <p:nvSpPr>
          <p:cNvPr id="52" name="Shape 50"/>
          <p:cNvSpPr/>
          <p:nvPr/>
        </p:nvSpPr>
        <p:spPr>
          <a:xfrm>
            <a:off x="6323012" y="2016252"/>
            <a:ext cx="2457418" cy="768096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065">
            <a:solidFill>
              <a:srgbClr val="4B4B4B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451028" y="2098548"/>
            <a:ext cx="2201386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权重归一与主导弱点判定</a:t>
            </a:r>
            <a:endParaRPr lang="en-US" sz="1200" b="1" dirty="0">
              <a:solidFill>
                <a:srgbClr val="11111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</a:endParaRPr>
          </a:p>
        </p:txBody>
      </p:sp>
      <p:sp>
        <p:nvSpPr>
          <p:cNvPr id="54" name="Text 52"/>
          <p:cNvSpPr/>
          <p:nvPr/>
        </p:nvSpPr>
        <p:spPr>
          <a:xfrm>
            <a:off x="6414135" y="2299970"/>
            <a:ext cx="2284095" cy="43878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A5A5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缓解多标签交叉带来的标注歧义</a:t>
            </a:r>
            <a:endParaRPr lang="en-US" sz="1000" dirty="0">
              <a:solidFill>
                <a:srgbClr val="5A5A5A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</a:endParaRPr>
          </a:p>
        </p:txBody>
      </p:sp>
      <p:sp>
        <p:nvSpPr>
          <p:cNvPr id="55" name="Text 53"/>
          <p:cNvSpPr/>
          <p:nvPr/>
        </p:nvSpPr>
        <p:spPr>
          <a:xfrm>
            <a:off x="7478570" y="2793492"/>
            <a:ext cx="146304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300" dirty="0"/>
          </a:p>
        </p:txBody>
      </p:sp>
      <p:sp>
        <p:nvSpPr>
          <p:cNvPr id="56" name="Shape 54"/>
          <p:cNvSpPr/>
          <p:nvPr/>
        </p:nvSpPr>
        <p:spPr>
          <a:xfrm>
            <a:off x="6323012" y="3180842"/>
            <a:ext cx="2457418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065">
            <a:solidFill>
              <a:srgbClr val="4B4B4B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451028" y="3683762"/>
            <a:ext cx="2201386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980" dirty="0"/>
          </a:p>
        </p:txBody>
      </p:sp>
      <p:sp>
        <p:nvSpPr>
          <p:cNvPr id="58" name="Text 56"/>
          <p:cNvSpPr/>
          <p:nvPr/>
        </p:nvSpPr>
        <p:spPr>
          <a:xfrm>
            <a:off x="6797040" y="3326765"/>
            <a:ext cx="1508760" cy="2851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两级成因分类框架</a:t>
            </a:r>
            <a:endParaRPr lang="en-US" sz="1200" b="1" dirty="0">
              <a:solidFill>
                <a:srgbClr val="11111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</a:endParaRPr>
          </a:p>
        </p:txBody>
      </p:sp>
      <p:sp>
        <p:nvSpPr>
          <p:cNvPr id="59" name="Shape 57"/>
          <p:cNvSpPr/>
          <p:nvPr/>
        </p:nvSpPr>
        <p:spPr>
          <a:xfrm>
            <a:off x="6450330" y="3727450"/>
            <a:ext cx="1030605" cy="452120"/>
          </a:xfrm>
          <a:prstGeom prst="roundRect">
            <a:avLst>
              <a:gd name="adj" fmla="val 17857"/>
            </a:avLst>
          </a:prstGeom>
          <a:solidFill>
            <a:srgbClr val="EFEFEF"/>
          </a:solidFill>
          <a:ln w="11430">
            <a:solidFill>
              <a:srgbClr val="4B4B4B">
                <a:alpha val="80000"/>
              </a:srgbClr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514465" y="3784600"/>
            <a:ext cx="871855" cy="3587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4B4B4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一级</a:t>
            </a:r>
            <a:r>
              <a:rPr lang="zh-CN" altLang="en-US" sz="1200" b="1" dirty="0">
                <a:solidFill>
                  <a:srgbClr val="4B4B4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分</a:t>
            </a:r>
            <a:r>
              <a:rPr lang="en-US" sz="1200" b="1" dirty="0">
                <a:solidFill>
                  <a:srgbClr val="4B4B4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类</a:t>
            </a:r>
            <a:endParaRPr lang="en-US" sz="1200" b="1" dirty="0">
              <a:solidFill>
                <a:srgbClr val="4B4B4B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</a:endParaRPr>
          </a:p>
        </p:txBody>
      </p:sp>
      <p:sp>
        <p:nvSpPr>
          <p:cNvPr id="62" name="Shape 60"/>
          <p:cNvSpPr/>
          <p:nvPr/>
        </p:nvSpPr>
        <p:spPr>
          <a:xfrm>
            <a:off x="7633970" y="3727450"/>
            <a:ext cx="1002030" cy="452120"/>
          </a:xfrm>
          <a:prstGeom prst="roundRect">
            <a:avLst>
              <a:gd name="adj" fmla="val 17857"/>
            </a:avLst>
          </a:prstGeom>
          <a:solidFill>
            <a:srgbClr val="EFEFEF"/>
          </a:solidFill>
          <a:ln w="11430">
            <a:solidFill>
              <a:srgbClr val="4B4B4B">
                <a:alpha val="80000"/>
              </a:srgbClr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614920" y="3787140"/>
            <a:ext cx="989965" cy="3092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4B4B4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二级</a:t>
            </a:r>
            <a:r>
              <a:rPr lang="zh-CN" altLang="en-US" sz="1200" b="1" dirty="0">
                <a:solidFill>
                  <a:srgbClr val="4B4B4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分类</a:t>
            </a:r>
            <a:endParaRPr lang="en-US" sz="820" dirty="0"/>
          </a:p>
        </p:txBody>
      </p:sp>
      <p:sp>
        <p:nvSpPr>
          <p:cNvPr id="66" name="Shape 64"/>
          <p:cNvSpPr/>
          <p:nvPr/>
        </p:nvSpPr>
        <p:spPr>
          <a:xfrm>
            <a:off x="6323012" y="4910836"/>
            <a:ext cx="2457418" cy="768096"/>
          </a:xfrm>
          <a:prstGeom prst="roundRect">
            <a:avLst>
              <a:gd name="adj" fmla="val 7143"/>
            </a:avLst>
          </a:prstGeom>
          <a:solidFill>
            <a:srgbClr val="4B4B4B"/>
          </a:solidFill>
          <a:ln w="12065">
            <a:solidFill>
              <a:srgbClr val="4B4B4B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414198" y="5194427"/>
            <a:ext cx="2201386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带标签漏洞样本集</a:t>
            </a:r>
            <a:endParaRPr lang="en-US" sz="1400" b="1" dirty="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</a:endParaRPr>
          </a:p>
        </p:txBody>
      </p:sp>
      <p:sp>
        <p:nvSpPr>
          <p:cNvPr id="69" name="Shape 67"/>
          <p:cNvSpPr/>
          <p:nvPr/>
        </p:nvSpPr>
        <p:spPr>
          <a:xfrm>
            <a:off x="9091295" y="292735"/>
            <a:ext cx="2750185" cy="5492115"/>
          </a:xfrm>
          <a:prstGeom prst="roundRect">
            <a:avLst>
              <a:gd name="adj" fmla="val 2660"/>
            </a:avLst>
          </a:prstGeom>
          <a:solidFill>
            <a:srgbClr val="F7F7F7"/>
          </a:solidFill>
          <a:ln w="15240">
            <a:solidFill>
              <a:srgbClr val="666666">
                <a:alpha val="8000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9146191" y="347472"/>
            <a:ext cx="2640298" cy="438912"/>
          </a:xfrm>
          <a:prstGeom prst="roundRect">
            <a:avLst>
              <a:gd name="adj" fmla="val 16667"/>
            </a:avLst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9237631" y="429768"/>
            <a:ext cx="245741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4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④ 知识库构建</a:t>
            </a:r>
            <a:endParaRPr lang="en-US" sz="1240" dirty="0"/>
          </a:p>
        </p:txBody>
      </p:sp>
      <p:sp>
        <p:nvSpPr>
          <p:cNvPr id="72" name="Shape 70"/>
          <p:cNvSpPr/>
          <p:nvPr/>
        </p:nvSpPr>
        <p:spPr>
          <a:xfrm>
            <a:off x="9237631" y="950976"/>
            <a:ext cx="2457418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12065">
            <a:solidFill>
              <a:srgbClr val="666666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9365615" y="1028700"/>
            <a:ext cx="2201545" cy="2419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材料收集</a:t>
            </a:r>
            <a:endParaRPr lang="en-US" sz="1200" b="1" dirty="0">
              <a:solidFill>
                <a:srgbClr val="11111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</a:endParaRPr>
          </a:p>
        </p:txBody>
      </p:sp>
      <p:sp>
        <p:nvSpPr>
          <p:cNvPr id="74" name="Text 72"/>
          <p:cNvSpPr/>
          <p:nvPr/>
        </p:nvSpPr>
        <p:spPr>
          <a:xfrm>
            <a:off x="9402445" y="1270000"/>
            <a:ext cx="2128520" cy="38481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A5A5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源码 / 配置 / 文档 / 公告 / Issue / PR </a:t>
            </a:r>
            <a:endParaRPr lang="en-US" sz="1000" dirty="0">
              <a:solidFill>
                <a:srgbClr val="5A5A5A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</a:endParaRPr>
          </a:p>
        </p:txBody>
      </p:sp>
      <p:sp>
        <p:nvSpPr>
          <p:cNvPr id="75" name="Text 73"/>
          <p:cNvSpPr/>
          <p:nvPr/>
        </p:nvSpPr>
        <p:spPr>
          <a:xfrm>
            <a:off x="10393188" y="1709928"/>
            <a:ext cx="146304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300" dirty="0"/>
          </a:p>
        </p:txBody>
      </p:sp>
      <p:sp>
        <p:nvSpPr>
          <p:cNvPr id="76" name="Shape 74"/>
          <p:cNvSpPr/>
          <p:nvPr/>
        </p:nvSpPr>
        <p:spPr>
          <a:xfrm>
            <a:off x="9237631" y="1938528"/>
            <a:ext cx="2457418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065">
            <a:solidFill>
              <a:srgbClr val="666666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9365647" y="2020824"/>
            <a:ext cx="2201386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文本规范化与过滤</a:t>
            </a:r>
            <a:endParaRPr lang="en-US" sz="1200" b="1" dirty="0">
              <a:solidFill>
                <a:srgbClr val="11111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</a:endParaRPr>
          </a:p>
        </p:txBody>
      </p:sp>
      <p:sp>
        <p:nvSpPr>
          <p:cNvPr id="78" name="Text 76"/>
          <p:cNvSpPr/>
          <p:nvPr/>
        </p:nvSpPr>
        <p:spPr>
          <a:xfrm>
            <a:off x="9402223" y="2221992"/>
            <a:ext cx="2128234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A5A5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去除噪声并压缩无效内容，保留可复核证据</a:t>
            </a:r>
            <a:endParaRPr lang="en-US" sz="1000" dirty="0">
              <a:solidFill>
                <a:srgbClr val="5A5A5A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</a:endParaRPr>
          </a:p>
        </p:txBody>
      </p:sp>
      <p:sp>
        <p:nvSpPr>
          <p:cNvPr id="79" name="Text 77"/>
          <p:cNvSpPr/>
          <p:nvPr/>
        </p:nvSpPr>
        <p:spPr>
          <a:xfrm>
            <a:off x="10393188" y="2660904"/>
            <a:ext cx="146304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300" dirty="0"/>
          </a:p>
        </p:txBody>
      </p:sp>
      <p:sp>
        <p:nvSpPr>
          <p:cNvPr id="80" name="Shape 78"/>
          <p:cNvSpPr/>
          <p:nvPr/>
        </p:nvSpPr>
        <p:spPr>
          <a:xfrm>
            <a:off x="9237631" y="2889504"/>
            <a:ext cx="2457418" cy="768096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065">
            <a:solidFill>
              <a:srgbClr val="666666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9365647" y="2971800"/>
            <a:ext cx="2201386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差异化分块</a:t>
            </a:r>
            <a:endParaRPr lang="en-US" sz="1200" b="1" dirty="0">
              <a:solidFill>
                <a:srgbClr val="11111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</a:endParaRPr>
          </a:p>
        </p:txBody>
      </p:sp>
      <p:sp>
        <p:nvSpPr>
          <p:cNvPr id="82" name="Text 80"/>
          <p:cNvSpPr/>
          <p:nvPr/>
        </p:nvSpPr>
        <p:spPr>
          <a:xfrm>
            <a:off x="9402223" y="3172968"/>
            <a:ext cx="2128234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A5A5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代码按行级与语义边界；文档按段落与滑动窗口</a:t>
            </a:r>
            <a:endParaRPr lang="en-US" sz="1000" dirty="0">
              <a:solidFill>
                <a:srgbClr val="5A5A5A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</a:endParaRPr>
          </a:p>
        </p:txBody>
      </p:sp>
      <p:sp>
        <p:nvSpPr>
          <p:cNvPr id="83" name="Text 81"/>
          <p:cNvSpPr/>
          <p:nvPr/>
        </p:nvSpPr>
        <p:spPr>
          <a:xfrm>
            <a:off x="10393188" y="3666744"/>
            <a:ext cx="146304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300" dirty="0"/>
          </a:p>
        </p:txBody>
      </p:sp>
      <p:sp>
        <p:nvSpPr>
          <p:cNvPr id="84" name="Shape 82"/>
          <p:cNvSpPr/>
          <p:nvPr/>
        </p:nvSpPr>
        <p:spPr>
          <a:xfrm>
            <a:off x="9237631" y="3895344"/>
            <a:ext cx="2457418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12065">
            <a:solidFill>
              <a:srgbClr val="666666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9365647" y="3977640"/>
            <a:ext cx="2201386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向量化与检索索引</a:t>
            </a:r>
            <a:endParaRPr lang="en-US" sz="1200" b="1" dirty="0">
              <a:solidFill>
                <a:srgbClr val="11111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</a:endParaRPr>
          </a:p>
        </p:txBody>
      </p:sp>
      <p:sp>
        <p:nvSpPr>
          <p:cNvPr id="86" name="Text 84"/>
          <p:cNvSpPr/>
          <p:nvPr/>
        </p:nvSpPr>
        <p:spPr>
          <a:xfrm>
            <a:off x="9402223" y="4178808"/>
            <a:ext cx="2128234" cy="4206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A5A5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MPNet 编码 + FAISS 近邻检索</a:t>
            </a:r>
            <a:endParaRPr lang="en-US" sz="1000" dirty="0">
              <a:solidFill>
                <a:srgbClr val="5A5A5A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</a:endParaRPr>
          </a:p>
        </p:txBody>
      </p:sp>
      <p:sp>
        <p:nvSpPr>
          <p:cNvPr id="88" name="Shape 86"/>
          <p:cNvSpPr/>
          <p:nvPr/>
        </p:nvSpPr>
        <p:spPr>
          <a:xfrm>
            <a:off x="9237631" y="4892548"/>
            <a:ext cx="2457418" cy="786384"/>
          </a:xfrm>
          <a:prstGeom prst="roundRect">
            <a:avLst>
              <a:gd name="adj" fmla="val 6977"/>
            </a:avLst>
          </a:prstGeom>
          <a:solidFill>
            <a:srgbClr val="666666"/>
          </a:solidFill>
          <a:ln w="12065">
            <a:solidFill>
              <a:srgbClr val="666666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9365615" y="5139690"/>
            <a:ext cx="2201545" cy="27495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4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向量化</a:t>
            </a:r>
            <a:r>
              <a:rPr lang="en-US" sz="14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知识库</a:t>
            </a:r>
            <a:endParaRPr lang="en-US" sz="1400" b="1" dirty="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</a:endParaRPr>
          </a:p>
        </p:txBody>
      </p:sp>
      <p:sp>
        <p:nvSpPr>
          <p:cNvPr id="91" name="Shape 89"/>
          <p:cNvSpPr/>
          <p:nvPr/>
        </p:nvSpPr>
        <p:spPr>
          <a:xfrm>
            <a:off x="3124930" y="5185156"/>
            <a:ext cx="109728" cy="219456"/>
          </a:xfrm>
          <a:prstGeom prst="chevron">
            <a:avLst/>
          </a:prstGeom>
          <a:solidFill>
            <a:srgbClr val="8A8A8A"/>
          </a:solidFill>
          <a:ln w="10160">
            <a:solidFill>
              <a:srgbClr val="8A8A8A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39548" y="5185156"/>
            <a:ext cx="109728" cy="219456"/>
          </a:xfrm>
          <a:prstGeom prst="chevron">
            <a:avLst/>
          </a:prstGeom>
          <a:solidFill>
            <a:srgbClr val="8A8A8A"/>
          </a:solidFill>
          <a:ln w="10160">
            <a:solidFill>
              <a:srgbClr val="8A8A8A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8954167" y="5185156"/>
            <a:ext cx="109728" cy="219456"/>
          </a:xfrm>
          <a:prstGeom prst="chevron">
            <a:avLst/>
          </a:prstGeom>
          <a:solidFill>
            <a:srgbClr val="8A8A8A"/>
          </a:solidFill>
          <a:ln w="10160">
            <a:solidFill>
              <a:srgbClr val="8A8A8A"/>
            </a:solidFill>
            <a:prstDash val="solid"/>
          </a:ln>
        </p:spPr>
      </p:sp>
      <p:cxnSp>
        <p:nvCxnSpPr>
          <p:cNvPr id="94" name="直接箭头连接符 93"/>
          <p:cNvCxnSpPr>
            <a:stCxn id="8" idx="0"/>
            <a:endCxn id="9" idx="0"/>
          </p:cNvCxnSpPr>
          <p:nvPr/>
        </p:nvCxnSpPr>
        <p:spPr>
          <a:xfrm>
            <a:off x="1722120" y="1673225"/>
            <a:ext cx="635" cy="457200"/>
          </a:xfrm>
          <a:prstGeom prst="straightConnector1">
            <a:avLst/>
          </a:prstGeom>
          <a:ln>
            <a:solidFill>
              <a:schemeClr val="tx1"/>
            </a:solidFill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95" name="直接箭头连接符 94"/>
          <p:cNvCxnSpPr/>
          <p:nvPr/>
        </p:nvCxnSpPr>
        <p:spPr>
          <a:xfrm>
            <a:off x="1722755" y="2871470"/>
            <a:ext cx="635" cy="457200"/>
          </a:xfrm>
          <a:prstGeom prst="straightConnector1">
            <a:avLst/>
          </a:prstGeom>
          <a:ln>
            <a:solidFill>
              <a:schemeClr val="tx1"/>
            </a:solidFill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96" name="直接箭头连接符 95"/>
          <p:cNvCxnSpPr/>
          <p:nvPr/>
        </p:nvCxnSpPr>
        <p:spPr>
          <a:xfrm flipH="1">
            <a:off x="1722120" y="4559935"/>
            <a:ext cx="1270" cy="332740"/>
          </a:xfrm>
          <a:prstGeom prst="straightConnector1">
            <a:avLst/>
          </a:prstGeom>
          <a:ln>
            <a:solidFill>
              <a:schemeClr val="tx1"/>
            </a:solidFill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99" name="直接箭头连接符 98"/>
          <p:cNvCxnSpPr/>
          <p:nvPr/>
        </p:nvCxnSpPr>
        <p:spPr>
          <a:xfrm>
            <a:off x="4636770" y="1716405"/>
            <a:ext cx="635" cy="457200"/>
          </a:xfrm>
          <a:prstGeom prst="straightConnector1">
            <a:avLst/>
          </a:prstGeom>
          <a:ln>
            <a:solidFill>
              <a:schemeClr val="tx1"/>
            </a:solidFill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00" name="直接箭头连接符 99"/>
          <p:cNvCxnSpPr>
            <a:endCxn id="38" idx="0"/>
          </p:cNvCxnSpPr>
          <p:nvPr/>
        </p:nvCxnSpPr>
        <p:spPr>
          <a:xfrm>
            <a:off x="4637405" y="2868295"/>
            <a:ext cx="0" cy="682625"/>
          </a:xfrm>
          <a:prstGeom prst="straightConnector1">
            <a:avLst/>
          </a:prstGeom>
          <a:ln>
            <a:solidFill>
              <a:schemeClr val="tx1"/>
            </a:solidFill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01" name="直接箭头连接符 100"/>
          <p:cNvCxnSpPr>
            <a:endCxn id="42" idx="0"/>
          </p:cNvCxnSpPr>
          <p:nvPr/>
        </p:nvCxnSpPr>
        <p:spPr>
          <a:xfrm>
            <a:off x="4636135" y="4300220"/>
            <a:ext cx="1270" cy="610870"/>
          </a:xfrm>
          <a:prstGeom prst="straightConnector1">
            <a:avLst/>
          </a:prstGeom>
          <a:ln>
            <a:solidFill>
              <a:schemeClr val="tx1"/>
            </a:solidFill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03" name="直接箭头连接符 102"/>
          <p:cNvCxnSpPr/>
          <p:nvPr/>
        </p:nvCxnSpPr>
        <p:spPr>
          <a:xfrm>
            <a:off x="7555865" y="1664335"/>
            <a:ext cx="0" cy="351790"/>
          </a:xfrm>
          <a:prstGeom prst="straightConnector1">
            <a:avLst/>
          </a:prstGeom>
          <a:ln>
            <a:solidFill>
              <a:schemeClr val="tx1"/>
            </a:solidFill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04" name="直接箭头连接符 103"/>
          <p:cNvCxnSpPr>
            <a:endCxn id="56" idx="0"/>
          </p:cNvCxnSpPr>
          <p:nvPr/>
        </p:nvCxnSpPr>
        <p:spPr>
          <a:xfrm flipH="1">
            <a:off x="7551420" y="2793365"/>
            <a:ext cx="4445" cy="387350"/>
          </a:xfrm>
          <a:prstGeom prst="straightConnector1">
            <a:avLst/>
          </a:prstGeom>
          <a:ln>
            <a:solidFill>
              <a:schemeClr val="tx1"/>
            </a:solidFill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05" name="直接箭头连接符 104"/>
          <p:cNvCxnSpPr>
            <a:endCxn id="66" idx="0"/>
          </p:cNvCxnSpPr>
          <p:nvPr/>
        </p:nvCxnSpPr>
        <p:spPr>
          <a:xfrm>
            <a:off x="7551420" y="4385310"/>
            <a:ext cx="0" cy="525780"/>
          </a:xfrm>
          <a:prstGeom prst="straightConnector1">
            <a:avLst/>
          </a:prstGeom>
          <a:ln>
            <a:solidFill>
              <a:schemeClr val="tx1"/>
            </a:solidFill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06" name="直接箭头连接符 105"/>
          <p:cNvCxnSpPr/>
          <p:nvPr/>
        </p:nvCxnSpPr>
        <p:spPr>
          <a:xfrm>
            <a:off x="10466070" y="1700530"/>
            <a:ext cx="0" cy="238125"/>
          </a:xfrm>
          <a:prstGeom prst="straightConnector1">
            <a:avLst/>
          </a:prstGeom>
          <a:ln>
            <a:solidFill>
              <a:schemeClr val="tx1"/>
            </a:solidFill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07" name="直接箭头连接符 106"/>
          <p:cNvCxnSpPr/>
          <p:nvPr/>
        </p:nvCxnSpPr>
        <p:spPr>
          <a:xfrm>
            <a:off x="10466070" y="2651125"/>
            <a:ext cx="0" cy="238125"/>
          </a:xfrm>
          <a:prstGeom prst="straightConnector1">
            <a:avLst/>
          </a:prstGeom>
          <a:ln>
            <a:solidFill>
              <a:schemeClr val="tx1"/>
            </a:solidFill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08" name="直接箭头连接符 107"/>
          <p:cNvCxnSpPr/>
          <p:nvPr/>
        </p:nvCxnSpPr>
        <p:spPr>
          <a:xfrm>
            <a:off x="10466070" y="3666490"/>
            <a:ext cx="0" cy="238125"/>
          </a:xfrm>
          <a:prstGeom prst="straightConnector1">
            <a:avLst/>
          </a:prstGeom>
          <a:ln>
            <a:solidFill>
              <a:schemeClr val="tx1"/>
            </a:solidFill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09" name="直接箭头连接符 108"/>
          <p:cNvCxnSpPr/>
          <p:nvPr/>
        </p:nvCxnSpPr>
        <p:spPr>
          <a:xfrm>
            <a:off x="10466705" y="4645025"/>
            <a:ext cx="0" cy="238125"/>
          </a:xfrm>
          <a:prstGeom prst="straightConnector1">
            <a:avLst/>
          </a:prstGeom>
          <a:ln>
            <a:solidFill>
              <a:schemeClr val="tx1"/>
            </a:solidFill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445</Words>
  <Application>WPS 演示</Application>
  <PresentationFormat>On-screen Show (16:9)</PresentationFormat>
  <Paragraphs>78</Paragraphs>
  <Slides>1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10" baseType="lpstr">
      <vt:lpstr>Arial</vt:lpstr>
      <vt:lpstr>宋体</vt:lpstr>
      <vt:lpstr>Wingdings</vt:lpstr>
      <vt:lpstr>微软雅黑</vt:lpstr>
      <vt:lpstr>微软雅黑</vt:lpstr>
      <vt:lpstr>Calibri</vt:lpstr>
      <vt:lpstr>Arial Unicode MS</vt:lpstr>
      <vt:lpstr>等线</vt:lpstr>
      <vt:lpstr>Office Theme</vt:lpstr>
      <vt:lpstr>PowerPoint 演示文稿</vt:lpstr>
    </vt:vector>
  </TitlesOfParts>
  <Company>OpenAI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chap3_kb_flow</dc:title>
  <dc:creator>OpenAI Codex</dc:creator>
  <dc:subject>漏洞收集、分类与知识库构建流程</dc:subject>
  <cp:lastModifiedBy>hxy</cp:lastModifiedBy>
  <cp:revision>2</cp:revision>
  <dcterms:created xsi:type="dcterms:W3CDTF">2026-04-05T07:42:00Z</dcterms:created>
  <dcterms:modified xsi:type="dcterms:W3CDTF">2026-04-05T08:01:13Z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2052-12.1.0.25225</vt:lpwstr>
  </property>
  <property fmtid="{D5CDD505-2E9C-101B-9397-08002B2CF9AE}" pid="3" name="ICV">
    <vt:lpwstr>9E1DAAC6733A4CAE9E28CFFF446A66CE_12</vt:lpwstr>
  </property>
</Properties>
</file>