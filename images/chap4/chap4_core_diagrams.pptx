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331720" y="201168"/>
            <a:ext cx="7543800" cy="63093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1E1E"/>
                </a:solidFill>
                <a:latin typeface="Microsoft YaHe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4892040" y="329184"/>
            <a:ext cx="2377440" cy="420624"/>
          </a:xfrm>
          <a:prstGeom prst="rect">
            <a:avLst/>
          </a:prstGeom>
          <a:solidFill>
            <a:srgbClr val="FFFFFF"/>
          </a:solidFill>
          <a:ln w="1397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1E1E"/>
                </a:solidFill>
                <a:latin typeface="Microsoft YaHei"/>
              </a:rPr>
              <a:t>选择漏洞并发起分析会话</a:t>
            </a:r>
          </a:p>
        </p:txBody>
      </p:sp>
      <p:sp>
        <p:nvSpPr>
          <p:cNvPr id="4" name="Rectangle 3"/>
          <p:cNvSpPr/>
          <p:nvPr/>
        </p:nvSpPr>
        <p:spPr>
          <a:xfrm>
            <a:off x="4983480" y="1060704"/>
            <a:ext cx="2194560" cy="384048"/>
          </a:xfrm>
          <a:prstGeom prst="rect">
            <a:avLst/>
          </a:prstGeom>
          <a:solidFill>
            <a:srgbClr val="FFFFFF"/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1E1E"/>
                </a:solidFill>
                <a:latin typeface="Microsoft YaHei"/>
              </a:rPr>
              <a:t>构建安全上下文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4846320" y="1755648"/>
            <a:ext cx="2468880" cy="457200"/>
          </a:xfrm>
          <a:prstGeom prst="rect">
            <a:avLst/>
          </a:prstGeom>
          <a:solidFill>
            <a:srgbClr val="FFFFFF"/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1E1E"/>
                </a:solidFill>
                <a:latin typeface="Microsoft YaHei"/>
              </a:rPr>
              <a:t>生成候选监控 / 防护策略</a:t>
            </a:r>
          </a:p>
        </p:txBody>
      </p:sp>
      <p:sp>
        <p:nvSpPr>
          <p:cNvPr id="6" name="Rectangle 5"/>
          <p:cNvSpPr/>
          <p:nvPr/>
        </p:nvSpPr>
        <p:spPr>
          <a:xfrm>
            <a:off x="4736592" y="2633472"/>
            <a:ext cx="2697480" cy="530352"/>
          </a:xfrm>
          <a:prstGeom prst="rect">
            <a:avLst/>
          </a:prstGeom>
          <a:solidFill>
            <a:srgbClr val="FFFFFF"/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1E1E"/>
                </a:solidFill>
                <a:latin typeface="Microsoft YaHei"/>
              </a:rPr>
              <a:t>专家三维评审与同类型排序</a:t>
            </a:r>
          </a:p>
        </p:txBody>
      </p:sp>
      <p:sp>
        <p:nvSpPr>
          <p:cNvPr id="7" name="Diamond 6"/>
          <p:cNvSpPr/>
          <p:nvPr/>
        </p:nvSpPr>
        <p:spPr>
          <a:xfrm>
            <a:off x="5074920" y="3584448"/>
            <a:ext cx="2011680" cy="841248"/>
          </a:xfrm>
          <a:prstGeom prst="diamond">
            <a:avLst/>
          </a:prstGeom>
          <a:solidFill>
            <a:srgbClr val="FFFFFF"/>
          </a:solidFill>
          <a:ln w="1397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1E1E"/>
                </a:solidFill>
                <a:latin typeface="Microsoft YaHei"/>
              </a:rPr>
              <a:t>是否需要
反馈修订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80" y="4681728"/>
            <a:ext cx="2286000" cy="475488"/>
          </a:xfrm>
          <a:prstGeom prst="rect">
            <a:avLst/>
          </a:prstGeom>
          <a:solidFill>
            <a:srgbClr val="F6F6F6"/>
          </a:solidFill>
          <a:ln w="1397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1E1E"/>
                </a:solidFill>
                <a:latin typeface="Microsoft YaHei"/>
              </a:rPr>
              <a:t>反馈优化并重新生成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0" y="4736592"/>
            <a:ext cx="2103120" cy="457200"/>
          </a:xfrm>
          <a:prstGeom prst="rect">
            <a:avLst/>
          </a:prstGeom>
          <a:solidFill>
            <a:srgbClr val="FFFFFF"/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1E1E"/>
                </a:solidFill>
                <a:latin typeface="Microsoft YaHei"/>
              </a:rPr>
              <a:t>确认交付结果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92040" y="5532120"/>
            <a:ext cx="2377440" cy="457200"/>
          </a:xfrm>
          <a:prstGeom prst="rect">
            <a:avLst/>
          </a:prstGeom>
          <a:solidFill>
            <a:srgbClr val="FFFFFF"/>
          </a:solidFill>
          <a:ln w="1397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1E1E"/>
                </a:solidFill>
                <a:latin typeface="Microsoft YaHei"/>
              </a:rPr>
              <a:t>部署验证并记录审计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80760" y="749808"/>
            <a:ext cx="0" cy="310896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80760" y="1444752"/>
            <a:ext cx="0" cy="310896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80760" y="2212848"/>
            <a:ext cx="0" cy="420624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80760" y="3163824"/>
            <a:ext cx="0" cy="420624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80760" y="4425696"/>
            <a:ext cx="0" cy="310896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463540" y="4462272"/>
            <a:ext cx="502920" cy="2560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1E1E"/>
                </a:solidFill>
                <a:latin typeface="Microsoft YaHei"/>
              </a:rPr>
              <a:t>否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80760" y="5193792"/>
            <a:ext cx="0" cy="338328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3822191" y="4005072"/>
            <a:ext cx="1252729" cy="0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822191" y="4005072"/>
            <a:ext cx="0" cy="676656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3845052" y="3602736"/>
            <a:ext cx="502920" cy="2560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1E1E"/>
                </a:solidFill>
                <a:latin typeface="Microsoft YaHei"/>
              </a:rPr>
              <a:t>是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4572000" y="4919472"/>
            <a:ext cx="411480" cy="0"/>
          </a:xfrm>
          <a:prstGeom prst="line">
            <a:avLst/>
          </a:prstGeom>
          <a:ln w="12700">
            <a:solidFill>
              <a:srgbClr val="7A7A7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4572000" y="1993392"/>
            <a:ext cx="0" cy="2926080"/>
          </a:xfrm>
          <a:prstGeom prst="line">
            <a:avLst/>
          </a:prstGeom>
          <a:ln w="12700">
            <a:solidFill>
              <a:srgbClr val="7A7A7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572000" y="1993392"/>
            <a:ext cx="274320" cy="0"/>
          </a:xfrm>
          <a:prstGeom prst="line">
            <a:avLst/>
          </a:prstGeom>
          <a:ln w="12700">
            <a:solidFill>
              <a:srgbClr val="7A7A7A"/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3296412" y="2267712"/>
            <a:ext cx="1417320" cy="2560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1E1E"/>
                </a:solidFill>
                <a:latin typeface="Microsoft YaHei"/>
              </a:rPr>
              <a:t>修订后返回生成阶段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47472" y="365760"/>
            <a:ext cx="1828800" cy="384048"/>
          </a:xfrm>
          <a:prstGeom prst="rect">
            <a:avLst/>
          </a:prstGeom>
          <a:solidFill>
            <a:srgbClr val="FFFFFF"/>
          </a:solidFill>
          <a:ln w="1397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1E1E"/>
                </a:solidFill>
                <a:latin typeface="Microsoft YaHei"/>
              </a:rPr>
              <a:t>安全工程师</a:t>
            </a:r>
          </a:p>
        </p:txBody>
      </p:sp>
      <p:sp>
        <p:nvSpPr>
          <p:cNvPr id="3" name="Rectangle 2"/>
          <p:cNvSpPr/>
          <p:nvPr/>
        </p:nvSpPr>
        <p:spPr>
          <a:xfrm>
            <a:off x="10012680" y="365760"/>
            <a:ext cx="1828800" cy="384048"/>
          </a:xfrm>
          <a:prstGeom prst="rect">
            <a:avLst/>
          </a:prstGeom>
          <a:solidFill>
            <a:srgbClr val="FFFFFF"/>
          </a:solidFill>
          <a:ln w="1397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1E1E"/>
                </a:solidFill>
                <a:latin typeface="Microsoft YaHei"/>
              </a:rPr>
              <a:t>专家评审员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34640" y="237744"/>
            <a:ext cx="6492240" cy="6144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1E1E"/>
                </a:solidFill>
                <a:latin typeface="Microsoft YaHei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3749039" y="658368"/>
            <a:ext cx="1874519" cy="365760"/>
          </a:xfrm>
          <a:prstGeom prst="rect">
            <a:avLst/>
          </a:prstGeom>
          <a:solidFill>
            <a:srgbClr val="FFFFFF"/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1E1E"/>
                </a:solidFill>
                <a:latin typeface="Microsoft YaHei"/>
              </a:rPr>
              <a:t>漏洞知识与证据管理</a:t>
            </a:r>
          </a:p>
        </p:txBody>
      </p:sp>
      <p:sp>
        <p:nvSpPr>
          <p:cNvPr id="6" name="Rectangle 5"/>
          <p:cNvSpPr/>
          <p:nvPr/>
        </p:nvSpPr>
        <p:spPr>
          <a:xfrm>
            <a:off x="3749039" y="1554480"/>
            <a:ext cx="1874519" cy="420624"/>
          </a:xfrm>
          <a:prstGeom prst="rect">
            <a:avLst/>
          </a:prstGeom>
          <a:solidFill>
            <a:srgbClr val="FFFFFF"/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1E1E"/>
                </a:solidFill>
                <a:latin typeface="Microsoft YaHei"/>
              </a:rPr>
              <a:t>安全上下文构建</a:t>
            </a:r>
          </a:p>
        </p:txBody>
      </p:sp>
      <p:sp>
        <p:nvSpPr>
          <p:cNvPr id="7" name="Rectangle 6"/>
          <p:cNvSpPr/>
          <p:nvPr/>
        </p:nvSpPr>
        <p:spPr>
          <a:xfrm>
            <a:off x="3749039" y="2523744"/>
            <a:ext cx="1874519" cy="493776"/>
          </a:xfrm>
          <a:prstGeom prst="rect">
            <a:avLst/>
          </a:prstGeom>
          <a:solidFill>
            <a:srgbClr val="FFFFFF"/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1E1E"/>
                </a:solidFill>
                <a:latin typeface="Microsoft YaHei"/>
              </a:rPr>
              <a:t>结构化漏洞分析与
候选策略生成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2523744"/>
            <a:ext cx="1828800" cy="493776"/>
          </a:xfrm>
          <a:prstGeom prst="rect">
            <a:avLst/>
          </a:prstGeom>
          <a:solidFill>
            <a:srgbClr val="FFFFFF"/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1E1E"/>
                </a:solidFill>
                <a:latin typeface="Microsoft YaHei"/>
              </a:rPr>
              <a:t>三维评审与
同类型排序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3730752"/>
            <a:ext cx="1828800" cy="420624"/>
          </a:xfrm>
          <a:prstGeom prst="rect">
            <a:avLst/>
          </a:prstGeom>
          <a:solidFill>
            <a:srgbClr val="F6F6F6"/>
          </a:solidFill>
          <a:ln w="1397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1E1E"/>
                </a:solidFill>
                <a:latin typeface="Microsoft YaHei"/>
              </a:rPr>
              <a:t>反馈优化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4773168"/>
            <a:ext cx="1828800" cy="420624"/>
          </a:xfrm>
          <a:prstGeom prst="rect">
            <a:avLst/>
          </a:prstGeom>
          <a:solidFill>
            <a:srgbClr val="FFFFFF"/>
          </a:solidFill>
          <a:ln w="1397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1E1E"/>
                </a:solidFill>
                <a:latin typeface="Microsoft YaHei"/>
              </a:rPr>
              <a:t>确认结果与部署验证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444752"/>
            <a:ext cx="1508760" cy="420624"/>
          </a:xfrm>
          <a:prstGeom prst="rect">
            <a:avLst/>
          </a:prstGeom>
          <a:solidFill>
            <a:srgbClr val="F6F6F6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02920" y="1353312"/>
            <a:ext cx="1508760" cy="219456"/>
          </a:xfrm>
          <a:prstGeom prst="ellipse">
            <a:avLst/>
          </a:prstGeom>
          <a:solidFill>
            <a:srgbClr val="F6F6F6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02920" y="1737360"/>
            <a:ext cx="1508760" cy="219456"/>
          </a:xfrm>
          <a:prstGeom prst="ellipse">
            <a:avLst/>
          </a:prstGeom>
          <a:solidFill>
            <a:srgbClr val="F6F6F6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" y="1499616"/>
            <a:ext cx="136245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Microsoft YaHei"/>
              </a:rPr>
              <a:t>CVE 与多源证据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880360"/>
            <a:ext cx="1508760" cy="420624"/>
          </a:xfrm>
          <a:prstGeom prst="rect">
            <a:avLst/>
          </a:prstGeom>
          <a:solidFill>
            <a:srgbClr val="F6F6F6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02920" y="2788920"/>
            <a:ext cx="1508760" cy="219456"/>
          </a:xfrm>
          <a:prstGeom prst="ellipse">
            <a:avLst/>
          </a:prstGeom>
          <a:solidFill>
            <a:srgbClr val="F6F6F6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02920" y="3172968"/>
            <a:ext cx="1508760" cy="219456"/>
          </a:xfrm>
          <a:prstGeom prst="ellipse">
            <a:avLst/>
          </a:prstGeom>
          <a:solidFill>
            <a:srgbClr val="F6F6F6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2935224"/>
            <a:ext cx="136245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Microsoft YaHei"/>
              </a:rPr>
              <a:t>候选策略与
中间结果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800600"/>
            <a:ext cx="1508760" cy="420624"/>
          </a:xfrm>
          <a:prstGeom prst="rect">
            <a:avLst/>
          </a:prstGeom>
          <a:solidFill>
            <a:srgbClr val="F6F6F6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2920" y="4709160"/>
            <a:ext cx="1508760" cy="219456"/>
          </a:xfrm>
          <a:prstGeom prst="ellipse">
            <a:avLst/>
          </a:prstGeom>
          <a:solidFill>
            <a:srgbClr val="F6F6F6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02920" y="5093208"/>
            <a:ext cx="1508760" cy="219456"/>
          </a:xfrm>
          <a:prstGeom prst="ellipse">
            <a:avLst/>
          </a:prstGeom>
          <a:solidFill>
            <a:srgbClr val="F6F6F6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4855464"/>
            <a:ext cx="136245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Microsoft YaHei"/>
              </a:rPr>
              <a:t>排序与审计记录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176272" y="557784"/>
            <a:ext cx="1572767" cy="283464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2331720" y="384048"/>
            <a:ext cx="1005840" cy="2560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1E1E"/>
                </a:solidFill>
                <a:latin typeface="Microsoft YaHei"/>
              </a:rPr>
              <a:t>发起会话 / 查询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23560" y="2770632"/>
            <a:ext cx="777240" cy="0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596128" y="2267712"/>
            <a:ext cx="914400" cy="2560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1E1E"/>
                </a:solidFill>
                <a:latin typeface="Microsoft YaHei"/>
              </a:rPr>
              <a:t>候选提交评审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8229600" y="557784"/>
            <a:ext cx="1783080" cy="2212848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650224" y="1444752"/>
            <a:ext cx="841248" cy="2560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1E1E"/>
                </a:solidFill>
                <a:latin typeface="Microsoft YaHei"/>
              </a:rPr>
              <a:t>评审意见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7178040" y="3941063"/>
            <a:ext cx="1051560" cy="0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7178040" y="3017520"/>
            <a:ext cx="0" cy="923543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5623560" y="3017520"/>
            <a:ext cx="1554480" cy="0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300216" y="3273552"/>
            <a:ext cx="841248" cy="2560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1E1E"/>
                </a:solidFill>
                <a:latin typeface="Microsoft YaHei"/>
              </a:rPr>
              <a:t>修订建议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2011680" y="4983480"/>
            <a:ext cx="6217920" cy="27432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379976" y="4608576"/>
            <a:ext cx="1298448" cy="2560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1E1E"/>
                </a:solidFill>
                <a:latin typeface="Microsoft YaHei"/>
              </a:rPr>
              <a:t>写入审计与排序记录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2011680" y="1664208"/>
            <a:ext cx="1737359" cy="73152"/>
          </a:xfrm>
          <a:prstGeom prst="line">
            <a:avLst/>
          </a:prstGeom>
          <a:ln w="12700">
            <a:solidFill>
              <a:srgbClr val="7A7A7A"/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2400300" y="1261872"/>
            <a:ext cx="777240" cy="2560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1E1E"/>
                </a:solidFill>
                <a:latin typeface="Microsoft YaHei"/>
              </a:rPr>
              <a:t>检索证据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2011680" y="2834640"/>
            <a:ext cx="1737359" cy="256032"/>
          </a:xfrm>
          <a:prstGeom prst="line">
            <a:avLst/>
          </a:prstGeom>
          <a:ln w="12700">
            <a:solidFill>
              <a:srgbClr val="7A7A7A"/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2354580" y="2962656"/>
            <a:ext cx="1234440" cy="2560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1E1E"/>
                </a:solidFill>
                <a:latin typeface="Microsoft YaHei"/>
              </a:rPr>
              <a:t>读取候选与中间结果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13816" y="1280160"/>
            <a:ext cx="237744" cy="237744"/>
          </a:xfrm>
          <a:prstGeom prst="ellipse">
            <a:avLst/>
          </a:prstGeom>
          <a:noFill/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932688" y="1536192"/>
            <a:ext cx="0" cy="502920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49808" y="1764792"/>
            <a:ext cx="365760" cy="0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768096" y="2039112"/>
            <a:ext cx="164592" cy="301752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32688" y="2039112"/>
            <a:ext cx="164592" cy="301752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01167" y="2377440"/>
            <a:ext cx="14630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Microsoft YaHei"/>
              </a:rPr>
              <a:t>安全工程师</a:t>
            </a:r>
          </a:p>
        </p:txBody>
      </p:sp>
      <p:sp>
        <p:nvSpPr>
          <p:cNvPr id="8" name="Oval 7"/>
          <p:cNvSpPr/>
          <p:nvPr/>
        </p:nvSpPr>
        <p:spPr>
          <a:xfrm>
            <a:off x="813816" y="4114800"/>
            <a:ext cx="237744" cy="237744"/>
          </a:xfrm>
          <a:prstGeom prst="ellipse">
            <a:avLst/>
          </a:prstGeom>
          <a:noFill/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932688" y="4370832"/>
            <a:ext cx="0" cy="502920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49808" y="4599432"/>
            <a:ext cx="365760" cy="0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768096" y="4873752"/>
            <a:ext cx="164592" cy="301752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32688" y="4873752"/>
            <a:ext cx="164592" cy="301752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01167" y="5212080"/>
            <a:ext cx="14630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Microsoft YaHei"/>
              </a:rPr>
              <a:t>专家评审员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57400" y="411480"/>
            <a:ext cx="8092440" cy="5897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880360" y="1078992"/>
            <a:ext cx="1463040" cy="384048"/>
          </a:xfrm>
          <a:prstGeom prst="ellipse">
            <a:avLst/>
          </a:prstGeom>
          <a:solidFill>
            <a:srgbClr val="FFFFFF"/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Microsoft YaHei"/>
              </a:rPr>
              <a:t>浏览漏洞知识与证据</a:t>
            </a:r>
          </a:p>
        </p:txBody>
      </p:sp>
      <p:sp>
        <p:nvSpPr>
          <p:cNvPr id="16" name="Oval 15"/>
          <p:cNvSpPr/>
          <p:nvPr/>
        </p:nvSpPr>
        <p:spPr>
          <a:xfrm>
            <a:off x="2880360" y="1847088"/>
            <a:ext cx="1188720" cy="384048"/>
          </a:xfrm>
          <a:prstGeom prst="ellipse">
            <a:avLst/>
          </a:prstGeom>
          <a:solidFill>
            <a:srgbClr val="FFFFFF"/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Microsoft YaHei"/>
              </a:rPr>
              <a:t>创建分析会话</a:t>
            </a:r>
          </a:p>
        </p:txBody>
      </p:sp>
      <p:sp>
        <p:nvSpPr>
          <p:cNvPr id="17" name="Oval 16"/>
          <p:cNvSpPr/>
          <p:nvPr/>
        </p:nvSpPr>
        <p:spPr>
          <a:xfrm>
            <a:off x="5074920" y="1847088"/>
            <a:ext cx="1188720" cy="384048"/>
          </a:xfrm>
          <a:prstGeom prst="ellipse">
            <a:avLst/>
          </a:prstGeom>
          <a:solidFill>
            <a:srgbClr val="FFFFFF"/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Microsoft YaHei"/>
              </a:rPr>
              <a:t>生成候选策略</a:t>
            </a:r>
          </a:p>
        </p:txBody>
      </p:sp>
      <p:sp>
        <p:nvSpPr>
          <p:cNvPr id="18" name="Oval 17"/>
          <p:cNvSpPr/>
          <p:nvPr/>
        </p:nvSpPr>
        <p:spPr>
          <a:xfrm>
            <a:off x="2880360" y="2670048"/>
            <a:ext cx="1463040" cy="384048"/>
          </a:xfrm>
          <a:prstGeom prst="ellipse">
            <a:avLst/>
          </a:prstGeom>
          <a:solidFill>
            <a:srgbClr val="FFFFFF"/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Microsoft YaHei"/>
              </a:rPr>
              <a:t>反馈修订与再生成</a:t>
            </a:r>
          </a:p>
        </p:txBody>
      </p:sp>
      <p:sp>
        <p:nvSpPr>
          <p:cNvPr id="19" name="Oval 18"/>
          <p:cNvSpPr/>
          <p:nvPr/>
        </p:nvSpPr>
        <p:spPr>
          <a:xfrm>
            <a:off x="2880360" y="4005072"/>
            <a:ext cx="1298448" cy="384048"/>
          </a:xfrm>
          <a:prstGeom prst="ellipse">
            <a:avLst/>
          </a:prstGeom>
          <a:solidFill>
            <a:srgbClr val="FFFFFF"/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Microsoft YaHei"/>
              </a:rPr>
              <a:t>三维质量评审</a:t>
            </a:r>
          </a:p>
        </p:txBody>
      </p:sp>
      <p:sp>
        <p:nvSpPr>
          <p:cNvPr id="20" name="Oval 19"/>
          <p:cNvSpPr/>
          <p:nvPr/>
        </p:nvSpPr>
        <p:spPr>
          <a:xfrm>
            <a:off x="2880360" y="4773168"/>
            <a:ext cx="1353312" cy="384048"/>
          </a:xfrm>
          <a:prstGeom prst="ellipse">
            <a:avLst/>
          </a:prstGeom>
          <a:solidFill>
            <a:srgbClr val="FFFFFF"/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Microsoft YaHei"/>
              </a:rPr>
              <a:t>同类型候选排序</a:t>
            </a:r>
          </a:p>
        </p:txBody>
      </p:sp>
      <p:sp>
        <p:nvSpPr>
          <p:cNvPr id="21" name="Oval 20"/>
          <p:cNvSpPr/>
          <p:nvPr/>
        </p:nvSpPr>
        <p:spPr>
          <a:xfrm>
            <a:off x="5074920" y="4773168"/>
            <a:ext cx="1298448" cy="384048"/>
          </a:xfrm>
          <a:prstGeom prst="ellipse">
            <a:avLst/>
          </a:prstGeom>
          <a:solidFill>
            <a:srgbClr val="FFFFFF"/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Microsoft YaHei"/>
              </a:rPr>
              <a:t>确认交付结果</a:t>
            </a:r>
          </a:p>
        </p:txBody>
      </p:sp>
      <p:sp>
        <p:nvSpPr>
          <p:cNvPr id="22" name="Oval 21"/>
          <p:cNvSpPr/>
          <p:nvPr/>
        </p:nvSpPr>
        <p:spPr>
          <a:xfrm>
            <a:off x="7406640" y="4773168"/>
            <a:ext cx="1051560" cy="384048"/>
          </a:xfrm>
          <a:prstGeom prst="ellipse">
            <a:avLst/>
          </a:prstGeom>
          <a:solidFill>
            <a:srgbClr val="FFFFFF"/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Microsoft YaHei"/>
              </a:rPr>
              <a:t>部署验证</a:t>
            </a:r>
          </a:p>
        </p:txBody>
      </p:sp>
      <p:sp>
        <p:nvSpPr>
          <p:cNvPr id="23" name="Oval 22"/>
          <p:cNvSpPr/>
          <p:nvPr/>
        </p:nvSpPr>
        <p:spPr>
          <a:xfrm>
            <a:off x="4937760" y="5532120"/>
            <a:ext cx="1600200" cy="384048"/>
          </a:xfrm>
          <a:prstGeom prst="ellipse">
            <a:avLst/>
          </a:prstGeom>
          <a:solidFill>
            <a:srgbClr val="FFFFFF"/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Microsoft YaHei"/>
              </a:rPr>
              <a:t>查看评审与审计记录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1298448" y="1271016"/>
            <a:ext cx="1581912" cy="393192"/>
          </a:xfrm>
          <a:prstGeom prst="line">
            <a:avLst/>
          </a:prstGeom>
          <a:ln w="1143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298448" y="1828800"/>
            <a:ext cx="1581912" cy="210312"/>
          </a:xfrm>
          <a:prstGeom prst="line">
            <a:avLst/>
          </a:prstGeom>
          <a:ln w="1143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98448" y="2057400"/>
            <a:ext cx="1581912" cy="804672"/>
          </a:xfrm>
          <a:prstGeom prst="line">
            <a:avLst/>
          </a:prstGeom>
          <a:ln w="1143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298448" y="2240280"/>
            <a:ext cx="3776472" cy="2724912"/>
          </a:xfrm>
          <a:prstGeom prst="line">
            <a:avLst/>
          </a:prstGeom>
          <a:ln w="1143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298448" y="4197096"/>
            <a:ext cx="1581912" cy="356616"/>
          </a:xfrm>
          <a:prstGeom prst="line">
            <a:avLst/>
          </a:prstGeom>
          <a:ln w="1143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298448" y="4736592"/>
            <a:ext cx="1581912" cy="228600"/>
          </a:xfrm>
          <a:prstGeom prst="line">
            <a:avLst/>
          </a:prstGeom>
          <a:ln w="1143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298448" y="4956048"/>
            <a:ext cx="3639312" cy="768096"/>
          </a:xfrm>
          <a:prstGeom prst="line">
            <a:avLst/>
          </a:prstGeom>
          <a:ln w="1143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069080" y="2039112"/>
            <a:ext cx="1005840" cy="0"/>
          </a:xfrm>
          <a:prstGeom prst="line">
            <a:avLst/>
          </a:prstGeom>
          <a:ln w="12700">
            <a:solidFill>
              <a:srgbClr val="7A7A7A"/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242816" y="1591055"/>
            <a:ext cx="658368" cy="2560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1E1E"/>
                </a:solidFill>
                <a:latin typeface="Microsoft YaHei"/>
              </a:rPr>
              <a:t>触发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4343400" y="2231136"/>
            <a:ext cx="731520" cy="630936"/>
          </a:xfrm>
          <a:prstGeom prst="line">
            <a:avLst/>
          </a:prstGeom>
          <a:ln w="12700">
            <a:solidFill>
              <a:srgbClr val="7A7A7A"/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215383" y="2359152"/>
            <a:ext cx="804672" cy="2560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1E1E"/>
                </a:solidFill>
                <a:latin typeface="Microsoft YaHei"/>
              </a:rPr>
              <a:t>反馈驱动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373368" y="4965192"/>
            <a:ext cx="1033272" cy="0"/>
          </a:xfrm>
          <a:prstGeom prst="line">
            <a:avLst/>
          </a:prstGeom>
          <a:ln w="12700">
            <a:solidFill>
              <a:srgbClr val="7A7A7A"/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6437376" y="4517136"/>
            <a:ext cx="932688" cy="2560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1E1E"/>
                </a:solidFill>
                <a:latin typeface="Microsoft YaHei"/>
              </a:rPr>
              <a:t>通过后执行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64592" y="1371600"/>
            <a:ext cx="2267712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64592" y="1792224"/>
            <a:ext cx="2267712" cy="0"/>
          </a:xfrm>
          <a:prstGeom prst="line">
            <a:avLst/>
          </a:prstGeom>
          <a:ln w="11430">
            <a:solidFill>
              <a:srgbClr val="B8B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64592" y="2933395"/>
            <a:ext cx="2267712" cy="0"/>
          </a:xfrm>
          <a:prstGeom prst="line">
            <a:avLst/>
          </a:prstGeom>
          <a:ln w="11430">
            <a:solidFill>
              <a:srgbClr val="B8B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19456" y="1399032"/>
            <a:ext cx="215798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1E1E"/>
                </a:solidFill>
                <a:latin typeface="Microsoft YaHei"/>
              </a:rPr>
              <a:t>CVE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1856231"/>
            <a:ext cx="2084831" cy="10497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Microsoft YaHei"/>
              </a:rPr>
              <a:t>- String cve_id
- String summary
- String description
- Float cvss_score
- String severity
- Date published_date
- Enum 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2997403"/>
            <a:ext cx="2084831" cy="724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Microsoft YaHei"/>
              </a:rPr>
              <a:t>+ getSeverityLevel(): String
+ toFeatureVector(): List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6120" y="1572768"/>
            <a:ext cx="2761488" cy="2176272"/>
          </a:xfrm>
          <a:prstGeom prst="rect">
            <a:avLst/>
          </a:prstGeom>
          <a:solidFill>
            <a:srgbClr val="FFFFFF"/>
          </a:solidFill>
          <a:ln w="1270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3246120" y="1993392"/>
            <a:ext cx="2761488" cy="0"/>
          </a:xfrm>
          <a:prstGeom prst="line">
            <a:avLst/>
          </a:prstGeom>
          <a:ln w="11430">
            <a:solidFill>
              <a:srgbClr val="B8B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246120" y="3038002"/>
            <a:ext cx="2761488" cy="0"/>
          </a:xfrm>
          <a:prstGeom prst="line">
            <a:avLst/>
          </a:prstGeom>
          <a:ln w="11430">
            <a:solidFill>
              <a:srgbClr val="B8B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300984" y="1600200"/>
            <a:ext cx="2651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1E1E"/>
                </a:solidFill>
                <a:latin typeface="Microsoft YaHei"/>
              </a:rPr>
              <a:t>Session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2057400"/>
            <a:ext cx="2578608" cy="9531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Microsoft YaHei"/>
              </a:rPr>
              <a:t>- String session_id
- String model_name
- String prompt_template
- DateTime created_at
- Enum status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3102010"/>
            <a:ext cx="2578608" cy="6195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Microsoft YaHei"/>
              </a:rPr>
              <a:t>+ initWorkspace(): void
+ getLatestStrategy(): Strategy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01968" y="1874519"/>
            <a:ext cx="2176272" cy="1883664"/>
          </a:xfrm>
          <a:prstGeom prst="rect">
            <a:avLst/>
          </a:prstGeom>
          <a:solidFill>
            <a:srgbClr val="FFFFFF"/>
          </a:solidFill>
          <a:ln w="1270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601968" y="2295144"/>
            <a:ext cx="2176272" cy="0"/>
          </a:xfrm>
          <a:prstGeom prst="line">
            <a:avLst/>
          </a:prstGeom>
          <a:ln w="11430">
            <a:solidFill>
              <a:srgbClr val="B8B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601968" y="3199302"/>
            <a:ext cx="2176272" cy="0"/>
          </a:xfrm>
          <a:prstGeom prst="line">
            <a:avLst/>
          </a:prstGeom>
          <a:ln w="11430">
            <a:solidFill>
              <a:srgbClr val="B8B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656831" y="1901951"/>
            <a:ext cx="206654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1E1E"/>
                </a:solidFill>
                <a:latin typeface="Microsoft YaHei"/>
              </a:rPr>
              <a:t>Strategy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93407" y="2359151"/>
            <a:ext cx="1993391" cy="8127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Microsoft YaHei"/>
              </a:rPr>
              <a:t>- String strategy_id
- String content
- String reasoning_chain
- List&lt;String&gt; rag_snippets
- Int version
- DateTime generated_at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407" y="3263310"/>
            <a:ext cx="1993391" cy="46744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Microsoft YaHei"/>
              </a:rPr>
              <a:t>+ render(): String
+ diff(other): String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28632" y="1426464"/>
            <a:ext cx="22860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628632" y="1847088"/>
            <a:ext cx="2286000" cy="0"/>
          </a:xfrm>
          <a:prstGeom prst="line">
            <a:avLst/>
          </a:prstGeom>
          <a:ln w="11430">
            <a:solidFill>
              <a:srgbClr val="B8B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628632" y="2944368"/>
            <a:ext cx="2286000" cy="0"/>
          </a:xfrm>
          <a:prstGeom prst="line">
            <a:avLst/>
          </a:prstGeom>
          <a:ln w="11430">
            <a:solidFill>
              <a:srgbClr val="B8B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683496" y="1453896"/>
            <a:ext cx="2176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1E1E"/>
                </a:solidFill>
                <a:latin typeface="Microsoft YaHei"/>
              </a:rPr>
              <a:t>Ranking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20072" y="1911095"/>
            <a:ext cx="2103120" cy="1005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Microsoft YaHei"/>
              </a:rPr>
              <a:t>- String ranking_id
- String user_id
- DateTime created_at
- List&lt;String&gt; order
- Map&lt;String, Float&gt; dimension_scores
- String comment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20072" y="3008375"/>
            <a:ext cx="210312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Microsoft YaHei"/>
              </a:rPr>
              <a:t>+ validate(): Boolean
+ toPreferencePair(): Pair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432304" y="2560320"/>
            <a:ext cx="813816" cy="0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450592" y="2267712"/>
            <a:ext cx="73152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Microsoft YaHei"/>
              </a:rPr>
              <a:t>发起分析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87168" y="2697480"/>
            <a:ext cx="164592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1E1E"/>
                </a:solidFill>
                <a:latin typeface="Microsoft YaHei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80" y="2267712"/>
            <a:ext cx="292608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1E1E"/>
                </a:solidFill>
                <a:latin typeface="Microsoft YaHei"/>
              </a:rPr>
              <a:t>0..*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07608" y="2816352"/>
            <a:ext cx="594360" cy="0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016752" y="2523744"/>
            <a:ext cx="50292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Microsoft YaHei"/>
              </a:rPr>
              <a:t>生成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80176" y="2962656"/>
            <a:ext cx="164592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1E1E"/>
                </a:solidFill>
                <a:latin typeface="Microsoft YaHei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36792" y="2523744"/>
            <a:ext cx="32918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1E1E"/>
                </a:solidFill>
                <a:latin typeface="Microsoft YaHei"/>
              </a:rPr>
              <a:t>1..*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6007608" y="1115568"/>
            <a:ext cx="0" cy="877824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007608" y="1115568"/>
            <a:ext cx="3621024" cy="0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9628632" y="1115568"/>
            <a:ext cx="0" cy="749808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406640" y="859536"/>
            <a:ext cx="749808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Microsoft YaHei"/>
              </a:rPr>
              <a:t>收集评价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53328" y="1755648"/>
            <a:ext cx="164592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1E1E"/>
                </a:solidFill>
                <a:latin typeface="Microsoft YaHei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45168" y="859536"/>
            <a:ext cx="292608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1E1E"/>
                </a:solidFill>
                <a:latin typeface="Microsoft YaHei"/>
              </a:rPr>
              <a:t>0..*</a:t>
            </a:r>
          </a:p>
        </p:txBody>
      </p:sp>
      <p:cxnSp>
        <p:nvCxnSpPr>
          <p:cNvPr id="40" name="Connector 39"/>
          <p:cNvCxnSpPr/>
          <p:nvPr/>
        </p:nvCxnSpPr>
        <p:spPr>
          <a:xfrm flipH="1">
            <a:off x="8778240" y="3273552"/>
            <a:ext cx="850392" cy="0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961120" y="2980944"/>
            <a:ext cx="749808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Microsoft YaHei"/>
              </a:rPr>
              <a:t>排序对象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13648" y="3419856"/>
            <a:ext cx="310896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1E1E"/>
                </a:solidFill>
                <a:latin typeface="Microsoft YaHei"/>
              </a:rPr>
              <a:t>1..*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1432" y="3419856"/>
            <a:ext cx="274320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1E1E"/>
                </a:solidFill>
                <a:latin typeface="Microsoft YaHei"/>
              </a:rPr>
              <a:t>0..*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