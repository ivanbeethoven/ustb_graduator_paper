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5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636" y="114"/>
      </p:cViewPr>
      <p:guideLst>
        <p:guide orient="horz" pos="2095"/>
        <p:guide pos="29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92040" y="329184"/>
            <a:ext cx="2377440" cy="420624"/>
          </a:xfrm>
          <a:prstGeom prst="rect">
            <a:avLst/>
          </a:prstGeom>
          <a:solidFill>
            <a:srgbClr val="FFFFFF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E1E"/>
                </a:solidFill>
                <a:latin typeface="微软雅黑" panose="020B0503020204020204" charset="-122"/>
              </a:rPr>
              <a:t>选择漏洞并发起分析会话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3480" y="1060704"/>
            <a:ext cx="219456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E1E"/>
                </a:solidFill>
                <a:latin typeface="微软雅黑" panose="020B0503020204020204" charset="-122"/>
              </a:rPr>
              <a:t>构建安全上下文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755648"/>
            <a:ext cx="24688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E1E"/>
                </a:solidFill>
                <a:latin typeface="微软雅黑" panose="020B0503020204020204" charset="-122"/>
              </a:rPr>
              <a:t>生成候选监控 / 防护策略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6592" y="2633472"/>
            <a:ext cx="269748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E1E"/>
                </a:solidFill>
                <a:latin typeface="微软雅黑" panose="020B0503020204020204" charset="-122"/>
              </a:rPr>
              <a:t>专家三维评审与同类型排序</a:t>
            </a:r>
          </a:p>
        </p:txBody>
      </p:sp>
      <p:sp>
        <p:nvSpPr>
          <p:cNvPr id="7" name="Diamond 6"/>
          <p:cNvSpPr/>
          <p:nvPr/>
        </p:nvSpPr>
        <p:spPr>
          <a:xfrm>
            <a:off x="5074920" y="3584448"/>
            <a:ext cx="2011680" cy="841248"/>
          </a:xfrm>
          <a:prstGeom prst="diamond">
            <a:avLst/>
          </a:prstGeom>
          <a:solidFill>
            <a:srgbClr val="FFFFFF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E1E"/>
                </a:solidFill>
                <a:latin typeface="微软雅黑" panose="020B0503020204020204" charset="-122"/>
              </a:rPr>
              <a:t>是否需要
反馈修订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4681728"/>
            <a:ext cx="2286000" cy="475488"/>
          </a:xfrm>
          <a:prstGeom prst="rect">
            <a:avLst/>
          </a:prstGeom>
          <a:solidFill>
            <a:srgbClr val="F6F6F6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E1E"/>
                </a:solidFill>
                <a:latin typeface="微软雅黑" panose="020B0503020204020204" charset="-122"/>
              </a:rPr>
              <a:t>反馈优化并重新生成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736592"/>
            <a:ext cx="210312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E1E"/>
                </a:solidFill>
                <a:latin typeface="微软雅黑" panose="020B0503020204020204" charset="-122"/>
              </a:rPr>
              <a:t>确认交付结果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5532120"/>
            <a:ext cx="237744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E1E"/>
                </a:solidFill>
                <a:latin typeface="微软雅黑" panose="020B0503020204020204" charset="-122"/>
              </a:rPr>
              <a:t>部署验证并记录审计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749808"/>
            <a:ext cx="0" cy="310896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1444752"/>
            <a:ext cx="0" cy="310896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2212848"/>
            <a:ext cx="0" cy="420624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3163824"/>
            <a:ext cx="0" cy="420624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4425696"/>
            <a:ext cx="0" cy="310896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70525" y="4455287"/>
            <a:ext cx="50292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1E"/>
                </a:solidFill>
                <a:latin typeface="微软雅黑" panose="020B0503020204020204" charset="-122"/>
              </a:rPr>
              <a:t>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5193792"/>
            <a:ext cx="0" cy="338328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822191" y="4005072"/>
            <a:ext cx="1252729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22191" y="4005072"/>
            <a:ext cx="0" cy="676656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45052" y="3602736"/>
            <a:ext cx="50292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1E"/>
                </a:solidFill>
                <a:latin typeface="微软雅黑" panose="020B0503020204020204" charset="-122"/>
              </a:rPr>
              <a:t>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" y="1280160"/>
            <a:ext cx="237744" cy="237744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cxnSp>
        <p:nvCxnSpPr>
          <p:cNvPr id="3" name="Connector 2"/>
          <p:cNvCxnSpPr/>
          <p:nvPr/>
        </p:nvCxnSpPr>
        <p:spPr>
          <a:xfrm>
            <a:off x="932688" y="1536192"/>
            <a:ext cx="0" cy="50292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9808" y="1764792"/>
            <a:ext cx="36576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68096" y="2039112"/>
            <a:ext cx="164592" cy="30175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" y="2039112"/>
            <a:ext cx="164592" cy="30175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1167" y="2400872"/>
            <a:ext cx="146304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E1E1E"/>
                </a:solidFill>
                <a:latin typeface="微软雅黑" panose="020B0503020204020204" charset="-122"/>
              </a:rPr>
              <a:t>安全工程师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4114800"/>
            <a:ext cx="237744" cy="237744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cxnSp>
        <p:nvCxnSpPr>
          <p:cNvPr id="9" name="Connector 8"/>
          <p:cNvCxnSpPr/>
          <p:nvPr/>
        </p:nvCxnSpPr>
        <p:spPr>
          <a:xfrm>
            <a:off x="932688" y="4370832"/>
            <a:ext cx="0" cy="50292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8" y="4599432"/>
            <a:ext cx="36576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68096" y="4873752"/>
            <a:ext cx="164592" cy="30175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" y="4873752"/>
            <a:ext cx="164592" cy="30175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1167" y="5235512"/>
            <a:ext cx="146304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E1E1E"/>
                </a:solidFill>
                <a:latin typeface="微软雅黑" panose="020B0503020204020204" charset="-122"/>
              </a:rPr>
              <a:t>专家评审员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401520"/>
            <a:ext cx="7131050" cy="591638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Oval 14"/>
          <p:cNvSpPr/>
          <p:nvPr/>
        </p:nvSpPr>
        <p:spPr>
          <a:xfrm>
            <a:off x="2880360" y="854710"/>
            <a:ext cx="2497455" cy="81851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dirty="0">
                <a:solidFill>
                  <a:srgbClr val="1E1E1E"/>
                </a:solidFill>
                <a:latin typeface="微软雅黑" panose="020B0503020204020204" charset="-122"/>
              </a:rPr>
              <a:t>知识库管理</a:t>
            </a:r>
            <a:endParaRPr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2880360" y="2308117"/>
            <a:ext cx="2029460" cy="81851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1E1E1E"/>
                </a:solidFill>
                <a:latin typeface="微软雅黑" panose="020B0503020204020204" charset="-122"/>
              </a:rPr>
              <a:t>智能体调度</a:t>
            </a:r>
            <a:endParaRPr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35432" y="2273281"/>
            <a:ext cx="2029460" cy="818515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 dirty="0">
                <a:solidFill>
                  <a:srgbClr val="1E1E1E"/>
                </a:solidFill>
                <a:latin typeface="微软雅黑" panose="020B0503020204020204" charset="-122"/>
              </a:rPr>
              <a:t>候选安全策略</a:t>
            </a:r>
            <a:endParaRPr lang="en-US" altLang="zh-CN"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dirty="0">
                <a:solidFill>
                  <a:srgbClr val="1E1E1E"/>
                </a:solidFill>
                <a:latin typeface="微软雅黑" panose="020B0503020204020204" charset="-122"/>
              </a:rPr>
              <a:t>生成</a:t>
            </a:r>
            <a:endParaRPr lang="zh-CN"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3141511" y="5178391"/>
            <a:ext cx="1741170" cy="7048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1E1E1E"/>
                </a:solidFill>
                <a:latin typeface="微软雅黑" panose="020B0503020204020204" charset="-122"/>
              </a:rPr>
              <a:t>质量评审</a:t>
            </a:r>
            <a:endParaRPr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823293" y="3788202"/>
            <a:ext cx="1409700" cy="7048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E1E1E"/>
                </a:solidFill>
                <a:latin typeface="微软雅黑" panose="020B0503020204020204" charset="-122"/>
              </a:rPr>
              <a:t>部署验证</a:t>
            </a:r>
          </a:p>
        </p:txBody>
      </p:sp>
      <p:sp>
        <p:nvSpPr>
          <p:cNvPr id="23" name="Oval 22"/>
          <p:cNvSpPr/>
          <p:nvPr/>
        </p:nvSpPr>
        <p:spPr>
          <a:xfrm>
            <a:off x="2883400" y="3807968"/>
            <a:ext cx="2145665" cy="7048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dirty="0">
                <a:solidFill>
                  <a:srgbClr val="1E1E1E"/>
                </a:solidFill>
                <a:latin typeface="微软雅黑" panose="020B0503020204020204" charset="-122"/>
              </a:rPr>
              <a:t>策略管理</a:t>
            </a:r>
            <a:endParaRPr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 flipV="1">
            <a:off x="1298448" y="1271016"/>
            <a:ext cx="1581912" cy="393192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>
            <a:off x="1254760" y="2207895"/>
            <a:ext cx="1560195" cy="711835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</p:cNvCxnSpPr>
          <p:nvPr/>
        </p:nvCxnSpPr>
        <p:spPr>
          <a:xfrm flipV="1">
            <a:off x="1400375" y="1633765"/>
            <a:ext cx="1545390" cy="2985734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</p:cNvCxnSpPr>
          <p:nvPr/>
        </p:nvCxnSpPr>
        <p:spPr>
          <a:xfrm>
            <a:off x="1266698" y="4987163"/>
            <a:ext cx="1874813" cy="494094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  <a:stCxn id="16" idx="6"/>
            <a:endCxn id="17" idx="2"/>
          </p:cNvCxnSpPr>
          <p:nvPr/>
        </p:nvCxnSpPr>
        <p:spPr>
          <a:xfrm flipV="1">
            <a:off x="4909820" y="2682539"/>
            <a:ext cx="1725612" cy="34836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995934" y="2379662"/>
            <a:ext cx="1567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&lt;&lt;include&gt;&gt;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895090" y="4632023"/>
            <a:ext cx="1567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&lt;&lt;extend&gt;&gt;</a:t>
            </a:r>
          </a:p>
        </p:txBody>
      </p:sp>
      <p:cxnSp>
        <p:nvCxnSpPr>
          <p:cNvPr id="44" name="Connector 26">
            <a:extLst>
              <a:ext uri="{FF2B5EF4-FFF2-40B4-BE49-F238E27FC236}">
                <a16:creationId xmlns:a16="http://schemas.microsoft.com/office/drawing/2014/main" id="{51AF5ED8-28CD-D9C3-E434-FE3D30F94685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247357" y="2812161"/>
            <a:ext cx="1636043" cy="1348232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30">
            <a:extLst>
              <a:ext uri="{FF2B5EF4-FFF2-40B4-BE49-F238E27FC236}">
                <a16:creationId xmlns:a16="http://schemas.microsoft.com/office/drawing/2014/main" id="{456846DE-D15A-A79D-5951-0629822F1AD2}"/>
              </a:ext>
            </a:extLst>
          </p:cNvPr>
          <p:cNvCxnSpPr>
            <a:cxnSpLocks/>
          </p:cNvCxnSpPr>
          <p:nvPr/>
        </p:nvCxnSpPr>
        <p:spPr>
          <a:xfrm>
            <a:off x="5029065" y="4140627"/>
            <a:ext cx="1740126" cy="11175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58418B9D-ED73-AA22-5723-CC34A16C9B76}"/>
              </a:ext>
            </a:extLst>
          </p:cNvPr>
          <p:cNvSpPr txBox="1"/>
          <p:nvPr/>
        </p:nvSpPr>
        <p:spPr>
          <a:xfrm>
            <a:off x="5201376" y="3768314"/>
            <a:ext cx="1567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&lt;&lt;include&gt;&gt;</a:t>
            </a:r>
          </a:p>
        </p:txBody>
      </p:sp>
      <p:cxnSp>
        <p:nvCxnSpPr>
          <p:cNvPr id="53" name="Connector 30">
            <a:extLst>
              <a:ext uri="{FF2B5EF4-FFF2-40B4-BE49-F238E27FC236}">
                <a16:creationId xmlns:a16="http://schemas.microsoft.com/office/drawing/2014/main" id="{80E15376-E3A1-B3C7-2C71-088BDD3E3743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5257457" y="816980"/>
            <a:ext cx="826525" cy="288145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16">
            <a:extLst>
              <a:ext uri="{FF2B5EF4-FFF2-40B4-BE49-F238E27FC236}">
                <a16:creationId xmlns:a16="http://schemas.microsoft.com/office/drawing/2014/main" id="{3CCBBAF3-0120-D820-AB68-E04217318C9F}"/>
              </a:ext>
            </a:extLst>
          </p:cNvPr>
          <p:cNvSpPr/>
          <p:nvPr/>
        </p:nvSpPr>
        <p:spPr>
          <a:xfrm>
            <a:off x="6044247" y="1254951"/>
            <a:ext cx="1964055" cy="54484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dirty="0">
                <a:solidFill>
                  <a:srgbClr val="1E1E1E"/>
                </a:solidFill>
                <a:latin typeface="微软雅黑" panose="020B0503020204020204" charset="-122"/>
              </a:rPr>
              <a:t>向量数据构建</a:t>
            </a:r>
            <a:endParaRPr lang="zh-CN"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</p:txBody>
      </p:sp>
      <p:sp>
        <p:nvSpPr>
          <p:cNvPr id="55" name="Oval 16">
            <a:extLst>
              <a:ext uri="{FF2B5EF4-FFF2-40B4-BE49-F238E27FC236}">
                <a16:creationId xmlns:a16="http://schemas.microsoft.com/office/drawing/2014/main" id="{AE6E9073-AB78-CDC6-88C6-FA41BF5FECB4}"/>
              </a:ext>
            </a:extLst>
          </p:cNvPr>
          <p:cNvSpPr/>
          <p:nvPr/>
        </p:nvSpPr>
        <p:spPr>
          <a:xfrm>
            <a:off x="6083982" y="540091"/>
            <a:ext cx="1964055" cy="55377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dirty="0">
                <a:solidFill>
                  <a:srgbClr val="1E1E1E"/>
                </a:solidFill>
                <a:latin typeface="微软雅黑" panose="020B0503020204020204" charset="-122"/>
              </a:rPr>
              <a:t>开源信息抓取</a:t>
            </a:r>
            <a:endParaRPr lang="zh-CN"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</p:txBody>
      </p:sp>
      <p:cxnSp>
        <p:nvCxnSpPr>
          <p:cNvPr id="59" name="Connector 30">
            <a:extLst>
              <a:ext uri="{FF2B5EF4-FFF2-40B4-BE49-F238E27FC236}">
                <a16:creationId xmlns:a16="http://schemas.microsoft.com/office/drawing/2014/main" id="{84F38380-8BB7-4A4B-447C-E30D77D34E69}"/>
              </a:ext>
            </a:extLst>
          </p:cNvPr>
          <p:cNvCxnSpPr>
            <a:cxnSpLocks/>
            <a:stCxn id="15" idx="6"/>
            <a:endCxn id="54" idx="2"/>
          </p:cNvCxnSpPr>
          <p:nvPr/>
        </p:nvCxnSpPr>
        <p:spPr>
          <a:xfrm>
            <a:off x="5377815" y="1263968"/>
            <a:ext cx="666432" cy="263403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30">
            <a:extLst>
              <a:ext uri="{FF2B5EF4-FFF2-40B4-BE49-F238E27FC236}">
                <a16:creationId xmlns:a16="http://schemas.microsoft.com/office/drawing/2014/main" id="{440098FD-21E7-5DBC-E671-36F65F8C3AD8}"/>
              </a:ext>
            </a:extLst>
          </p:cNvPr>
          <p:cNvCxnSpPr>
            <a:cxnSpLocks/>
            <a:stCxn id="19" idx="0"/>
            <a:endCxn id="23" idx="4"/>
          </p:cNvCxnSpPr>
          <p:nvPr/>
        </p:nvCxnSpPr>
        <p:spPr>
          <a:xfrm flipH="1" flipV="1">
            <a:off x="3956233" y="4512818"/>
            <a:ext cx="55863" cy="665573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30">
            <a:extLst>
              <a:ext uri="{FF2B5EF4-FFF2-40B4-BE49-F238E27FC236}">
                <a16:creationId xmlns:a16="http://schemas.microsoft.com/office/drawing/2014/main" id="{7B4E49CC-8374-78E4-45A4-F02279C5B69C}"/>
              </a:ext>
            </a:extLst>
          </p:cNvPr>
          <p:cNvCxnSpPr>
            <a:cxnSpLocks/>
            <a:stCxn id="16" idx="4"/>
            <a:endCxn id="23" idx="0"/>
          </p:cNvCxnSpPr>
          <p:nvPr/>
        </p:nvCxnSpPr>
        <p:spPr>
          <a:xfrm>
            <a:off x="3895090" y="3126632"/>
            <a:ext cx="61143" cy="681336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AEEB1418-C1A2-E195-0D5F-1E1F1E6AC818}"/>
              </a:ext>
            </a:extLst>
          </p:cNvPr>
          <p:cNvSpPr txBox="1"/>
          <p:nvPr/>
        </p:nvSpPr>
        <p:spPr>
          <a:xfrm>
            <a:off x="3907851" y="3240330"/>
            <a:ext cx="1567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&lt;&lt;extend&gt;&gt;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48D6E62-8849-947B-59A9-8E154753E4D6}"/>
              </a:ext>
            </a:extLst>
          </p:cNvPr>
          <p:cNvSpPr txBox="1"/>
          <p:nvPr/>
        </p:nvSpPr>
        <p:spPr>
          <a:xfrm>
            <a:off x="5163955" y="1378273"/>
            <a:ext cx="1567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charset="0"/>
                <a:cs typeface="Times New Roman" panose="02020603050405020304" charset="0"/>
              </a:rPr>
              <a:t>&lt;&lt;include&gt;&gt;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AC6C51F-2978-71B0-A054-61D1354A9554}"/>
              </a:ext>
            </a:extLst>
          </p:cNvPr>
          <p:cNvSpPr txBox="1"/>
          <p:nvPr/>
        </p:nvSpPr>
        <p:spPr>
          <a:xfrm>
            <a:off x="5029065" y="708971"/>
            <a:ext cx="1567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&lt;&lt;include&gt;&gt;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291DBB1-573E-8C16-00B6-8894E0BA5030}"/>
              </a:ext>
            </a:extLst>
          </p:cNvPr>
          <p:cNvSpPr txBox="1"/>
          <p:nvPr/>
        </p:nvSpPr>
        <p:spPr>
          <a:xfrm>
            <a:off x="4904723" y="5131215"/>
            <a:ext cx="1567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&lt;&lt;include&gt;&gt;</a:t>
            </a:r>
          </a:p>
        </p:txBody>
      </p:sp>
      <p:sp>
        <p:nvSpPr>
          <p:cNvPr id="79" name="Oval 16">
            <a:extLst>
              <a:ext uri="{FF2B5EF4-FFF2-40B4-BE49-F238E27FC236}">
                <a16:creationId xmlns:a16="http://schemas.microsoft.com/office/drawing/2014/main" id="{0B0155B9-4003-932E-89CB-6101C8B290A2}"/>
              </a:ext>
            </a:extLst>
          </p:cNvPr>
          <p:cNvSpPr/>
          <p:nvPr/>
        </p:nvSpPr>
        <p:spPr>
          <a:xfrm>
            <a:off x="6083981" y="4873752"/>
            <a:ext cx="1964055" cy="55377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dirty="0">
                <a:solidFill>
                  <a:srgbClr val="1E1E1E"/>
                </a:solidFill>
                <a:latin typeface="微软雅黑" panose="020B0503020204020204" charset="-122"/>
              </a:rPr>
              <a:t>智能评审</a:t>
            </a:r>
            <a:endParaRPr lang="zh-CN"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</p:txBody>
      </p:sp>
      <p:sp>
        <p:nvSpPr>
          <p:cNvPr id="80" name="Oval 16">
            <a:extLst>
              <a:ext uri="{FF2B5EF4-FFF2-40B4-BE49-F238E27FC236}">
                <a16:creationId xmlns:a16="http://schemas.microsoft.com/office/drawing/2014/main" id="{DAA285B3-E1E4-6B3B-71B5-BC43AB089094}"/>
              </a:ext>
            </a:extLst>
          </p:cNvPr>
          <p:cNvSpPr/>
          <p:nvPr/>
        </p:nvSpPr>
        <p:spPr>
          <a:xfrm>
            <a:off x="6111874" y="5479727"/>
            <a:ext cx="1964055" cy="553778"/>
          </a:xfrm>
          <a:prstGeom prst="ellipse">
            <a:avLst/>
          </a:prstGeom>
          <a:solidFill>
            <a:schemeClr val="bg1">
              <a:lumMod val="85000"/>
            </a:schemeClr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dirty="0">
                <a:solidFill>
                  <a:srgbClr val="1E1E1E"/>
                </a:solidFill>
                <a:latin typeface="微软雅黑" panose="020B0503020204020204" charset="-122"/>
              </a:rPr>
              <a:t>人工评审</a:t>
            </a:r>
            <a:endParaRPr lang="zh-CN" sz="1600" b="0" i="0" dirty="0">
              <a:solidFill>
                <a:srgbClr val="1E1E1E"/>
              </a:solidFill>
              <a:latin typeface="微软雅黑" panose="020B0503020204020204" charset="-122"/>
            </a:endParaRPr>
          </a:p>
        </p:txBody>
      </p:sp>
      <p:cxnSp>
        <p:nvCxnSpPr>
          <p:cNvPr id="81" name="Connector 30">
            <a:extLst>
              <a:ext uri="{FF2B5EF4-FFF2-40B4-BE49-F238E27FC236}">
                <a16:creationId xmlns:a16="http://schemas.microsoft.com/office/drawing/2014/main" id="{F2410A80-1381-0B63-A531-C18B002BD7F7}"/>
              </a:ext>
            </a:extLst>
          </p:cNvPr>
          <p:cNvCxnSpPr>
            <a:cxnSpLocks/>
            <a:stCxn id="19" idx="6"/>
            <a:endCxn id="79" idx="2"/>
          </p:cNvCxnSpPr>
          <p:nvPr/>
        </p:nvCxnSpPr>
        <p:spPr>
          <a:xfrm flipV="1">
            <a:off x="4882681" y="5150641"/>
            <a:ext cx="1201300" cy="380175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30">
            <a:extLst>
              <a:ext uri="{FF2B5EF4-FFF2-40B4-BE49-F238E27FC236}">
                <a16:creationId xmlns:a16="http://schemas.microsoft.com/office/drawing/2014/main" id="{95F26BBB-7AF5-1991-5FDC-FC7ED9A5AA06}"/>
              </a:ext>
            </a:extLst>
          </p:cNvPr>
          <p:cNvCxnSpPr>
            <a:cxnSpLocks/>
          </p:cNvCxnSpPr>
          <p:nvPr/>
        </p:nvCxnSpPr>
        <p:spPr>
          <a:xfrm>
            <a:off x="4882681" y="5665896"/>
            <a:ext cx="1197446" cy="90720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F68C18C2-B66B-BD70-BF70-D6B734C74CB8}"/>
              </a:ext>
            </a:extLst>
          </p:cNvPr>
          <p:cNvSpPr txBox="1"/>
          <p:nvPr/>
        </p:nvSpPr>
        <p:spPr>
          <a:xfrm>
            <a:off x="4839017" y="5663261"/>
            <a:ext cx="1567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&lt;&lt;include&gt;&gt;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3817" y="775970"/>
            <a:ext cx="2267712" cy="237744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2853817" y="1196594"/>
            <a:ext cx="2267712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853817" y="2560015"/>
            <a:ext cx="2267712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08681" y="803402"/>
            <a:ext cx="21579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微软雅黑" panose="020B0503020204020204" charset="-122"/>
              </a:rPr>
              <a:t>CVE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4462" y="1258061"/>
            <a:ext cx="2084831" cy="1049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微软雅黑" panose="020B0503020204020204" charset="-122"/>
              </a:rPr>
              <a:t>- String cve_id
- String summary
- String description
- Float cvss_score
- String severity
- Date published_date
- Enum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0840" y="2626995"/>
            <a:ext cx="2084705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微软雅黑" panose="020B0503020204020204" charset="-122"/>
              </a:rPr>
              <a:t>+ getSeverityLevel(): String
+ toFeatureVector():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94045" y="773938"/>
            <a:ext cx="2761488" cy="2176272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694045" y="1194562"/>
            <a:ext cx="2761488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94045" y="2239172"/>
            <a:ext cx="2761488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48909" y="80137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微软雅黑" panose="020B0503020204020204" charset="-122"/>
              </a:rPr>
              <a:t>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5485" y="1258570"/>
            <a:ext cx="2578608" cy="953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微软雅黑" panose="020B0503020204020204" charset="-122"/>
              </a:rPr>
              <a:t>- String session_id
- String model_name
- String prompt_template
- DateTime created_at
- Enum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5485" y="2303145"/>
            <a:ext cx="2578735" cy="481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微软雅黑" panose="020B0503020204020204" charset="-122"/>
              </a:rPr>
              <a:t>+ initWorkspace(): void
+ getLatestStrategy():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70225" y="3524885"/>
            <a:ext cx="2176145" cy="227774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3070098" y="3945509"/>
            <a:ext cx="2176272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70098" y="5261782"/>
            <a:ext cx="2176272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24961" y="3552316"/>
            <a:ext cx="206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微软雅黑" panose="020B0503020204020204" charset="-122"/>
              </a:rPr>
              <a:t>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260" y="3964305"/>
            <a:ext cx="2455545" cy="1177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微软雅黑" panose="020B0503020204020204" charset="-122"/>
              </a:rPr>
              <a:t>- String strategy_id
- String content
- String reasoning_chain
- List&lt;String&gt; rag_snippets
- Int version
- DateTime generated_at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4707" y="5335315"/>
            <a:ext cx="1993391" cy="467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微软雅黑" panose="020B0503020204020204" charset="-122"/>
              </a:rPr>
              <a:t>+ render(): String
+ diff(other): String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2957" y="3684524"/>
            <a:ext cx="2286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6132957" y="4105148"/>
            <a:ext cx="2286000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14542" y="5389753"/>
            <a:ext cx="2286000" cy="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87821" y="3711956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微软雅黑" panose="020B0503020204020204" charset="-122"/>
              </a:rPr>
              <a:t>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4270" y="4161155"/>
            <a:ext cx="2103120" cy="106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微软雅黑" panose="020B0503020204020204" charset="-122"/>
              </a:rPr>
              <a:t>- String ranking_id
- String user_id
- DateTime created_at
- List&lt;String&gt; order
- Map&lt;String, Float&gt; scores
- String comment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4397" y="5559170"/>
            <a:ext cx="210312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微软雅黑" panose="020B0503020204020204" charset="-122"/>
              </a:rPr>
              <a:t>+ validate(): Boolean
+ toPreferencePair(): Pair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18354" y="1761490"/>
            <a:ext cx="575945" cy="0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25593" y="1543050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微软雅黑" panose="020B0503020204020204" charset="-122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1305" y="1551432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微软雅黑" panose="020B0503020204020204" charset="-122"/>
              </a:rPr>
              <a:t>0..*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246243" y="2950337"/>
            <a:ext cx="447675" cy="574675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54675" y="3065145"/>
            <a:ext cx="270510" cy="261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微软雅黑" panose="020B0503020204020204" charset="-122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5237" y="347370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微软雅黑" panose="020B0503020204020204" charset="-122"/>
              </a:rPr>
              <a:t>1..*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42607" y="2936113"/>
            <a:ext cx="0" cy="749808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42480" y="3014345"/>
            <a:ext cx="304800" cy="3124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微软雅黑" panose="020B0503020204020204" charset="-122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1093" y="3556381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微软雅黑" panose="020B0503020204020204" charset="-122"/>
              </a:rPr>
              <a:t>0..*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246497" y="5325872"/>
            <a:ext cx="886460" cy="0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81778" y="5070221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微软雅黑" panose="020B0503020204020204" charset="-122"/>
              </a:rPr>
              <a:t>1..*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9562" y="5070221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微软雅黑" panose="020B0503020204020204" charset="-122"/>
              </a:rPr>
              <a:t>0..*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250</Words>
  <Application>Microsoft Office PowerPoint</Application>
  <PresentationFormat>宽屏</PresentationFormat>
  <Paragraphs>51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XY Han</cp:lastModifiedBy>
  <cp:revision>5</cp:revision>
  <dcterms:created xsi:type="dcterms:W3CDTF">2013-01-27T09:14:00Z</dcterms:created>
  <dcterms:modified xsi:type="dcterms:W3CDTF">2026-04-23T05:22:16Z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D428AE08291A4CE3B0418F8448EF661F_12</vt:lpwstr>
  </property>
</Properties>
</file>