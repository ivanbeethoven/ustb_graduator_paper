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2" userDrawn="1">
          <p15:clr>
            <a:srgbClr val="A4A3A4"/>
          </p15:clr>
        </p15:guide>
        <p15:guide id="2" pos="28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02"/>
        <p:guide pos="284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137160"/>
            <a:ext cx="7772400" cy="8686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222222">
                <a:alpha val="99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1">
                <a:solidFill>
                  <a:srgbClr val="222222"/>
                </a:solidFill>
              </a:rPr>
              <a:t>界面层（前端）</a:t>
            </a:r>
            <a:endParaRPr sz="1800" b="1">
              <a:solidFill>
                <a:srgbClr val="22222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954530" y="367665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策略代码生成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817620" y="367665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策略代码评估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819775" y="367665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安全策略部署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050792" y="1005840"/>
            <a:ext cx="219456" cy="146304"/>
          </a:xfrm>
          <a:prstGeom prst="down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0195" y="1174750"/>
            <a:ext cx="7876540" cy="4211955"/>
          </a:xfrm>
          <a:prstGeom prst="roundRect">
            <a:avLst>
              <a:gd name="adj" fmla="val 7500"/>
            </a:avLst>
          </a:prstGeom>
          <a:solidFill>
            <a:srgbClr val="F8F8F8"/>
          </a:solidFill>
          <a:ln w="19050">
            <a:solidFill>
              <a:srgbClr val="222222">
                <a:alpha val="99000"/>
              </a:srgbClr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b="1">
                <a:solidFill>
                  <a:srgbClr val="222222"/>
                </a:solidFill>
              </a:rPr>
              <a:t>后端服务</a:t>
            </a:r>
            <a:endParaRPr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0380" y="1606804"/>
            <a:ext cx="7498080" cy="146304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222222">
                <a:alpha val="99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b="1">
                <a:solidFill>
                  <a:srgbClr val="222222"/>
                </a:solidFill>
              </a:rPr>
              <a:t>服务层</a:t>
            </a:r>
            <a:endParaRPr b="1">
              <a:solidFill>
                <a:srgbClr val="222222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214880" y="1837690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任务调度器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28135" y="1837690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知识库构建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214880" y="2441321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策略生成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133215" y="2441321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评审与排序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51550" y="2441321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部署管理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5" name="Down Arrow 14"/>
          <p:cNvSpPr/>
          <p:nvPr/>
        </p:nvSpPr>
        <p:spPr>
          <a:xfrm>
            <a:off x="4139692" y="3069844"/>
            <a:ext cx="219456" cy="146304"/>
          </a:xfrm>
          <a:prstGeom prst="down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0380" y="3273298"/>
            <a:ext cx="7498080" cy="8686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222222">
                <a:alpha val="99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b="1">
                <a:solidFill>
                  <a:srgbClr val="222222"/>
                </a:solidFill>
              </a:rPr>
              <a:t>智能引擎层</a:t>
            </a:r>
            <a:endParaRPr b="1">
              <a:solidFill>
                <a:srgbClr val="222222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861820" y="3492500"/>
            <a:ext cx="1278890" cy="43878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大模型接口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390900" y="3492500"/>
            <a:ext cx="1215390" cy="43878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RAG 检索器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856480" y="3492500"/>
            <a:ext cx="1240790" cy="43878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工作流管理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347460" y="3492500"/>
            <a:ext cx="1252855" cy="43878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智能体管理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21" name="Down Arrow 20"/>
          <p:cNvSpPr/>
          <p:nvPr/>
        </p:nvSpPr>
        <p:spPr>
          <a:xfrm>
            <a:off x="4139692" y="4141978"/>
            <a:ext cx="219456" cy="146304"/>
          </a:xfrm>
          <a:prstGeom prst="down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0380" y="4356100"/>
            <a:ext cx="7498080" cy="821055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222222">
                <a:alpha val="99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>
                <a:solidFill>
                  <a:srgbClr val="222222"/>
                </a:solidFill>
              </a:rPr>
              <a:t>数据层</a:t>
            </a:r>
            <a:endParaRPr sz="1600" b="1">
              <a:solidFill>
                <a:srgbClr val="222222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214880" y="4558157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会话数据库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56480" y="4558157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向量数据库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846185" y="1334770"/>
            <a:ext cx="2582545" cy="3537585"/>
          </a:xfrm>
          <a:prstGeom prst="roundRect">
            <a:avLst>
              <a:gd name="adj" fmla="val 5965"/>
            </a:avLst>
          </a:prstGeom>
          <a:solidFill>
            <a:srgbClr val="EEEEEE"/>
          </a:solidFill>
          <a:ln w="19050">
            <a:solidFill>
              <a:srgbClr val="222222">
                <a:alpha val="99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>
                <a:solidFill>
                  <a:srgbClr val="222222"/>
                </a:solidFill>
              </a:rPr>
              <a:t>Kubernetes 集群</a:t>
            </a:r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  <a:p>
            <a:pPr algn="l"/>
            <a:endParaRPr sz="1600" b="1">
              <a:solidFill>
                <a:srgbClr val="222222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963025" y="2490724"/>
            <a:ext cx="23774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Falco
运行时威胁检测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963025" y="3222244"/>
            <a:ext cx="23774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OPA</a:t>
            </a:r>
            <a:r>
              <a:rPr lang="en-US" sz="1400" b="1">
                <a:solidFill>
                  <a:srgbClr val="222222"/>
                </a:solidFill>
              </a:rPr>
              <a:t>/Kynervo</a:t>
            </a:r>
            <a:r>
              <a:rPr sz="1400" b="1">
                <a:solidFill>
                  <a:srgbClr val="222222"/>
                </a:solidFill>
              </a:rPr>
              <a:t>
</a:t>
            </a:r>
            <a:r>
              <a:rPr lang="zh-CN" sz="1400" b="1">
                <a:solidFill>
                  <a:srgbClr val="222222"/>
                </a:solidFill>
              </a:rPr>
              <a:t>集群</a:t>
            </a:r>
            <a:r>
              <a:rPr sz="1400" b="1">
                <a:solidFill>
                  <a:srgbClr val="222222"/>
                </a:solidFill>
              </a:rPr>
              <a:t>策略引擎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963025" y="3953764"/>
            <a:ext cx="23774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22222"/>
                </a:solidFill>
              </a:rPr>
              <a:t>Network Policy
网络隔离</a:t>
            </a:r>
            <a:endParaRPr sz="1400" b="1">
              <a:solidFill>
                <a:srgbClr val="222222"/>
              </a:solidFill>
            </a:endParaRPr>
          </a:p>
        </p:txBody>
      </p:sp>
      <p:sp>
        <p:nvSpPr>
          <p:cNvPr id="30" name="Right Arrow 29"/>
          <p:cNvSpPr/>
          <p:nvPr/>
        </p:nvSpPr>
        <p:spPr>
          <a:xfrm>
            <a:off x="7733030" y="1919605"/>
            <a:ext cx="120142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6888" y="1686179"/>
            <a:ext cx="755015" cy="7372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</a:rPr>
              <a:t>K8s API </a:t>
            </a:r>
            <a:endParaRPr sz="1400" b="0">
              <a:solidFill>
                <a:srgbClr val="444444"/>
              </a:solidFill>
            </a:endParaRPr>
          </a:p>
          <a:p>
            <a:pPr algn="ctr"/>
            <a:r>
              <a:rPr sz="1400" b="0">
                <a:solidFill>
                  <a:srgbClr val="444444"/>
                </a:solidFill>
              </a:rPr>
              <a:t>/</a:t>
            </a:r>
            <a:endParaRPr sz="1400" b="0">
              <a:solidFill>
                <a:srgbClr val="444444"/>
              </a:solidFill>
            </a:endParaRPr>
          </a:p>
          <a:p>
            <a:pPr algn="ctr"/>
            <a:r>
              <a:rPr sz="1400" b="0">
                <a:solidFill>
                  <a:srgbClr val="444444"/>
                </a:solidFill>
              </a:rPr>
              <a:t> SSH</a:t>
            </a:r>
            <a:endParaRPr sz="1400" b="0">
              <a:solidFill>
                <a:srgbClr val="444444"/>
              </a:solidFill>
            </a:endParaRPr>
          </a:p>
        </p:txBody>
      </p:sp>
      <p:sp>
        <p:nvSpPr>
          <p:cNvPr id="32" name="Rounded Rectangle 10"/>
          <p:cNvSpPr/>
          <p:nvPr/>
        </p:nvSpPr>
        <p:spPr>
          <a:xfrm>
            <a:off x="6041390" y="1837690"/>
            <a:ext cx="169164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 b="1">
                <a:solidFill>
                  <a:srgbClr val="222222"/>
                </a:solidFill>
              </a:rPr>
              <a:t>K8S</a:t>
            </a:r>
            <a:r>
              <a:rPr lang="zh-CN" altLang="en-US" sz="1400" b="1">
                <a:solidFill>
                  <a:srgbClr val="222222"/>
                </a:solidFill>
              </a:rPr>
              <a:t>连接</a:t>
            </a:r>
            <a:endParaRPr lang="zh-CN" altLang="en-US" sz="1400" b="1">
              <a:solidFill>
                <a:srgbClr val="222222"/>
              </a:solidFill>
            </a:endParaRPr>
          </a:p>
        </p:txBody>
      </p:sp>
      <p:sp>
        <p:nvSpPr>
          <p:cNvPr id="33" name="Rounded Rectangle 27"/>
          <p:cNvSpPr/>
          <p:nvPr/>
        </p:nvSpPr>
        <p:spPr>
          <a:xfrm>
            <a:off x="8938895" y="1837944"/>
            <a:ext cx="23774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600" b="1">
                <a:solidFill>
                  <a:srgbClr val="222222"/>
                </a:solidFill>
              </a:rPr>
              <a:t>API Server</a:t>
            </a:r>
            <a:endParaRPr lang="en-US" sz="1600" b="1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</Words>
  <Application>WPS 演示</Application>
  <PresentationFormat>On-screen Show (4:3)</PresentationFormat>
  <Paragraphs>82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hxy</cp:lastModifiedBy>
  <cp:revision>4</cp:revision>
  <dcterms:created xsi:type="dcterms:W3CDTF">2013-01-27T09:14:00Z</dcterms:created>
  <dcterms:modified xsi:type="dcterms:W3CDTF">2026-04-24T06:11:56Z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86E32D66AEC342BE921E129EC463A971_12</vt:lpwstr>
  </property>
</Properties>
</file>